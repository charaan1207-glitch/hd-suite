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project: HD Suite is one Java Swing desktop application with two modules - HD Rail, a railway reservation form, and HD Cart, an online shopping cart simulation. Introduce both team members with their USN.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agenda: the problem, our solution, the tools and design, the OOP concepts, event handling, a tour of both modules, and finally testing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problem: both booking and shopping need lots of input, rule-based pricing and error handling. Then read out the five objectives, which match the experiment's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modules open from one home screen called HD Suite. HD Rail handles train booking and cancellation; HD Cart simulates an online store from browsing to the order receipt. They share the same validation and utility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plain Java: Swing for components, AWT for layouts and events, Java 2D for the drawings, java.time for dates and the Collections framework for data. No external libraries and no image files - even the product pictures are drawn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code is split into three layers. The GUI classes only show things and react to clicks. The logic and model classes hold the rules - fares, waiting list, cart totals - and have no GUI code, which is why we could test them separately. The utility layer is shared by both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Ticket and Product are abstract classes. Each travel class and each product category is a subclass that overrides the rules - rate per km, GST, berth layout, tax rate. The fare is calculated once in Ticket.getTotalFare(), which calls the overridden methods: that is runtime polymorphism.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Swing uses the delegation event model: a component is the event source, it creates an event object, and passes it to a registered listener. Our frames implement ActionListener and ItemListener, and we use adapter classes - MouseAdapter, KeyAdapter, FocusAdapter, WindowAdapter - so we only override the methods we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HD Rail after a cancellation. On the left is the passenger and journey form with text fields, radio buttons, combo boxes and check boxes. On the right, the journey strip and the e-ticket. The bookings table shows CNF in green, WL in orange and CANCELLED in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fare is computed by one formula; only the rate, reservation charge and GST change by class - that is where the subclasses come in. Booking first tries to give a berth; when the class is full the ticket goes on the waiting list. When a confirmed ticket is cancelled, WL 1 is confirmed automatically and everyone else moves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HD Cart looks like a real shopping site: a search bar and cart badge on top, category chips, product cards with ratings and discounts, and a cart sidebar. The cart updates live - quantity steppers, free-delivery progress bar, coupon and payment mode all change the total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Checkout uses a CardLayout with three steps. First the delivery form, validated on the spot; then a payment animation driven by a Swing Timer; then the confirmation with the full receipt. The example shows how the grand total is built: tax per category, the FEST20 coupon capped at Rs 1,000, free delivery, and gift wrap plus Cash on Delivery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checks live in one Validator class. It catches NumberFormatException and DateTimeParseException and rethrows our own checked ValidationException with a message the user can act on. Digit-only fields also block letters while typing, using a KeyAdapter.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tested in two ways. 98 automatic checks test the logic classes with exact expected values. Then a GUI test clicked through every screen of both modules - 31 screens - checking the results. Testing found three real bugs, which we fixed: the bookings table was hidden on small screens, add-ons carried over to the next passenger, and the payment progress bar was stretched.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Summarise: all five requirements are met and tested. For future work, the most useful next step is a database so data survives restarts, followed by user accounts, PDF tickets, a seat map and a real payment gateway in sandbox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everyone to scan the big QR code with their phone camera. It opens the HD Suite site, where both apps run in the browser on phone or computer - same rules as the Java version. The two small codes open HD Rail and HD Cart directly. The Java project itself can be downloaded from the same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invite questions. Be ready to show the live demo: run.bat starts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3.png"/><Relationship Id="rId9" Type="http://schemas.openxmlformats.org/officeDocument/2006/relationships/image" Target="../media/image24.png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6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.png"/><Relationship Id="rId7" Type="http://schemas.openxmlformats.org/officeDocument/2006/relationships/image" Target="../media/image31.png"/><Relationship Id="rId8" Type="http://schemas.openxmlformats.org/officeDocument/2006/relationships/image" Target="../media/image4.png"/><Relationship Id="rId9" Type="http://schemas.openxmlformats.org/officeDocument/2006/relationships/image" Target="../media/image32.png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]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Tile"/>
          <p:cNvSpPr/>
          <p:nvPr/>
        </p:nvSpPr>
        <p:spPr>
          <a:xfrm>
            <a:off x="548640" y="4572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30352"/>
            <a:ext cx="905256" cy="905256"/>
          </a:xfrm>
          <a:prstGeom prst="rect">
            <a:avLst/>
          </a:prstGeom>
        </p:spPr>
      </p:pic>
      <p:sp>
        <p:nvSpPr>
          <p:cNvPr id="5" name="TextBox 4 [s1]"/>
          <p:cNvSpPr txBox="1"/>
          <p:nvPr/>
        </p:nvSpPr>
        <p:spPr>
          <a:xfrm>
            <a:off x="1783080" y="777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CMR UNIVERSITY</a:t>
            </a:r>
          </a:p>
        </p:txBody>
      </p:sp>
      <p:sp>
        <p:nvSpPr>
          <p:cNvPr id="6" name="TextBox 5 [s1]"/>
          <p:cNvSpPr txBox="1"/>
          <p:nvPr/>
        </p:nvSpPr>
        <p:spPr>
          <a:xfrm>
            <a:off x="548640" y="1965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22D3EE"/>
                </a:solidFill>
                <a:latin typeface="Consolas"/>
              </a:rPr>
              <a:t>JAVA SWING / AWT  ·  MINI PROJECT</a:t>
            </a:r>
          </a:p>
        </p:txBody>
      </p:sp>
      <p:sp>
        <p:nvSpPr>
          <p:cNvPr id="7" name="TextBox 6 [s1]"/>
          <p:cNvSpPr txBox="1"/>
          <p:nvPr/>
        </p:nvSpPr>
        <p:spPr>
          <a:xfrm>
            <a:off x="548640" y="2286000"/>
            <a:ext cx="73152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200" b="1" i="0">
                <a:solidFill>
                  <a:srgbClr val="F1F5F9"/>
                </a:solidFill>
                <a:latin typeface="Calibri"/>
              </a:rPr>
              <a:t>HD Suite</a:t>
            </a:r>
          </a:p>
        </p:txBody>
      </p:sp>
      <p:sp>
        <p:nvSpPr>
          <p:cNvPr id="8" name="TextBox 7 [s1]"/>
          <p:cNvSpPr txBox="1"/>
          <p:nvPr/>
        </p:nvSpPr>
        <p:spPr>
          <a:xfrm>
            <a:off x="548640" y="34290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CBD5E1"/>
                </a:solidFill>
                <a:latin typeface="Calibri"/>
              </a:rPr>
              <a:t>Railway Reservation Form  </a:t>
            </a:r>
            <a:r>
              <a:rPr sz="2200" b="0" i="0">
                <a:solidFill>
                  <a:srgbClr val="22D3EE"/>
                </a:solidFill>
                <a:latin typeface="Calibri"/>
              </a:rPr>
              <a:t>+</a:t>
            </a:r>
            <a:r>
              <a:rPr sz="2200" b="0" i="0">
                <a:solidFill>
                  <a:srgbClr val="CBD5E1"/>
                </a:solidFill>
                <a:latin typeface="Calibri"/>
              </a:rPr>
              <a:t>  Online Shopping Cart Simulation</a:t>
            </a:r>
          </a:p>
        </p:txBody>
      </p:sp>
      <p:sp>
        <p:nvSpPr>
          <p:cNvPr id="9" name="Rounded Rectangle 8 [s1]"/>
          <p:cNvSpPr/>
          <p:nvPr/>
        </p:nvSpPr>
        <p:spPr>
          <a:xfrm>
            <a:off x="548640" y="443484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 [s1]"/>
          <p:cNvSpPr txBox="1"/>
          <p:nvPr/>
        </p:nvSpPr>
        <p:spPr>
          <a:xfrm>
            <a:off x="822960" y="4590288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PRESENTED BY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1F5F9"/>
                </a:solidFill>
                <a:latin typeface="Calibri"/>
              </a:rPr>
              <a:t>Hemashree T N</a:t>
            </a:r>
            <a:r>
              <a:rPr sz="1500" b="0" i="0">
                <a:solidFill>
                  <a:srgbClr val="22D3EE"/>
                </a:solidFill>
                <a:latin typeface="Consolas"/>
              </a:rPr>
              <a:t>     25BBTCS093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1F5F9"/>
                </a:solidFill>
                <a:latin typeface="Calibri"/>
              </a:rPr>
              <a:t>Divya Reddy</a:t>
            </a:r>
            <a:r>
              <a:rPr sz="1500" b="0" i="0">
                <a:solidFill>
                  <a:srgbClr val="22D3EE"/>
                </a:solidFill>
                <a:latin typeface="Consolas"/>
              </a:rPr>
              <a:t>        25BBTCS067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B Tech CSE  ·  2nd Year  ·  CMR University</a:t>
            </a:r>
          </a:p>
        </p:txBody>
      </p:sp>
      <p:pic>
        <p:nvPicPr>
          <p:cNvPr id="11" name="!!Train" descr="train-cyan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37360"/>
            <a:ext cx="3566160" cy="1961388"/>
          </a:xfrm>
          <a:prstGeom prst="rect">
            <a:avLst/>
          </a:prstGeom>
        </p:spPr>
      </p:pic>
      <p:pic>
        <p:nvPicPr>
          <p:cNvPr id="12" name="!!Cart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4069080"/>
            <a:ext cx="2011680" cy="16749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2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2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01  ·  AGENDA</a:t>
            </a:r>
          </a:p>
        </p:txBody>
      </p:sp>
      <p:sp>
        <p:nvSpPr>
          <p:cNvPr id="4" name="Title [s2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What we will cover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2]"/>
          <p:cNvSpPr/>
          <p:nvPr/>
        </p:nvSpPr>
        <p:spPr>
          <a:xfrm>
            <a:off x="548640" y="164592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2]"/>
          <p:cNvSpPr txBox="1"/>
          <p:nvPr/>
        </p:nvSpPr>
        <p:spPr>
          <a:xfrm>
            <a:off x="822959" y="18288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9" name="TextBox 8 [s2]"/>
          <p:cNvSpPr txBox="1"/>
          <p:nvPr/>
        </p:nvSpPr>
        <p:spPr>
          <a:xfrm>
            <a:off x="1737360" y="177393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Problem &amp; Objectives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Why we built it</a:t>
            </a:r>
          </a:p>
        </p:txBody>
      </p:sp>
      <p:sp>
        <p:nvSpPr>
          <p:cNvPr id="10" name="Rounded Rectangle 9 [s2]"/>
          <p:cNvSpPr/>
          <p:nvPr/>
        </p:nvSpPr>
        <p:spPr>
          <a:xfrm>
            <a:off x="548640" y="274320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 [s2]"/>
          <p:cNvSpPr txBox="1"/>
          <p:nvPr/>
        </p:nvSpPr>
        <p:spPr>
          <a:xfrm>
            <a:off x="822959" y="29260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12" name="TextBox 11 [s2]"/>
          <p:cNvSpPr txBox="1"/>
          <p:nvPr/>
        </p:nvSpPr>
        <p:spPr>
          <a:xfrm>
            <a:off x="1737360" y="287121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Solution Overview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HD Rail + HD Cart</a:t>
            </a:r>
          </a:p>
        </p:txBody>
      </p:sp>
      <p:sp>
        <p:nvSpPr>
          <p:cNvPr id="13" name="Rounded Rectangle 12 [s2]"/>
          <p:cNvSpPr/>
          <p:nvPr/>
        </p:nvSpPr>
        <p:spPr>
          <a:xfrm>
            <a:off x="548640" y="38404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2]"/>
          <p:cNvSpPr txBox="1"/>
          <p:nvPr/>
        </p:nvSpPr>
        <p:spPr>
          <a:xfrm>
            <a:off x="822959" y="4023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15" name="TextBox 14 [s2]"/>
          <p:cNvSpPr txBox="1"/>
          <p:nvPr/>
        </p:nvSpPr>
        <p:spPr>
          <a:xfrm>
            <a:off x="1737360" y="396849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Tools &amp; Architecture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Java, Swing, layered design</a:t>
            </a:r>
          </a:p>
        </p:txBody>
      </p:sp>
      <p:sp>
        <p:nvSpPr>
          <p:cNvPr id="16" name="Rounded Rectangle 15 [s2]"/>
          <p:cNvSpPr/>
          <p:nvPr/>
        </p:nvSpPr>
        <p:spPr>
          <a:xfrm>
            <a:off x="548640" y="4937759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 [s2]"/>
          <p:cNvSpPr txBox="1"/>
          <p:nvPr/>
        </p:nvSpPr>
        <p:spPr>
          <a:xfrm>
            <a:off x="822959" y="51206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18" name="TextBox 17 [s2]"/>
          <p:cNvSpPr txBox="1"/>
          <p:nvPr/>
        </p:nvSpPr>
        <p:spPr>
          <a:xfrm>
            <a:off x="1737360" y="5065775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OOP Concepts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Classes, inheritance, polymorphism</a:t>
            </a:r>
          </a:p>
        </p:txBody>
      </p:sp>
      <p:sp>
        <p:nvSpPr>
          <p:cNvPr id="19" name="Rounded Rectangle 18 [s2]"/>
          <p:cNvSpPr/>
          <p:nvPr/>
        </p:nvSpPr>
        <p:spPr>
          <a:xfrm>
            <a:off x="5532120" y="164592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 [s2]"/>
          <p:cNvSpPr txBox="1"/>
          <p:nvPr/>
        </p:nvSpPr>
        <p:spPr>
          <a:xfrm>
            <a:off x="5806440" y="18288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21" name="TextBox 20 [s2]"/>
          <p:cNvSpPr txBox="1"/>
          <p:nvPr/>
        </p:nvSpPr>
        <p:spPr>
          <a:xfrm>
            <a:off x="6720840" y="177393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Event Handling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The delegation event model</a:t>
            </a:r>
          </a:p>
        </p:txBody>
      </p:sp>
      <p:sp>
        <p:nvSpPr>
          <p:cNvPr id="22" name="Rounded Rectangle 21 [s2]"/>
          <p:cNvSpPr/>
          <p:nvPr/>
        </p:nvSpPr>
        <p:spPr>
          <a:xfrm>
            <a:off x="5532120" y="274320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 [s2]"/>
          <p:cNvSpPr txBox="1"/>
          <p:nvPr/>
        </p:nvSpPr>
        <p:spPr>
          <a:xfrm>
            <a:off x="5806440" y="29260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06</a:t>
            </a:r>
          </a:p>
        </p:txBody>
      </p:sp>
      <p:sp>
        <p:nvSpPr>
          <p:cNvPr id="24" name="TextBox 23 [s2]"/>
          <p:cNvSpPr txBox="1"/>
          <p:nvPr/>
        </p:nvSpPr>
        <p:spPr>
          <a:xfrm>
            <a:off x="6720840" y="287121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HD Rail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Booking, waiting list, refunds</a:t>
            </a:r>
          </a:p>
        </p:txBody>
      </p:sp>
      <p:sp>
        <p:nvSpPr>
          <p:cNvPr id="25" name="Rounded Rectangle 24 [s2]"/>
          <p:cNvSpPr/>
          <p:nvPr/>
        </p:nvSpPr>
        <p:spPr>
          <a:xfrm>
            <a:off x="5532120" y="38404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 [s2]"/>
          <p:cNvSpPr txBox="1"/>
          <p:nvPr/>
        </p:nvSpPr>
        <p:spPr>
          <a:xfrm>
            <a:off x="5806440" y="4023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07</a:t>
            </a:r>
          </a:p>
        </p:txBody>
      </p:sp>
      <p:sp>
        <p:nvSpPr>
          <p:cNvPr id="27" name="TextBox 26 [s2]"/>
          <p:cNvSpPr txBox="1"/>
          <p:nvPr/>
        </p:nvSpPr>
        <p:spPr>
          <a:xfrm>
            <a:off x="6720840" y="396849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HD Cart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Cart, coupons, checkout</a:t>
            </a:r>
          </a:p>
        </p:txBody>
      </p:sp>
      <p:sp>
        <p:nvSpPr>
          <p:cNvPr id="28" name="Rounded Rectangle 27 [s2]"/>
          <p:cNvSpPr/>
          <p:nvPr/>
        </p:nvSpPr>
        <p:spPr>
          <a:xfrm>
            <a:off x="5532120" y="4937759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 [s2]"/>
          <p:cNvSpPr txBox="1"/>
          <p:nvPr/>
        </p:nvSpPr>
        <p:spPr>
          <a:xfrm>
            <a:off x="5806440" y="51206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08</a:t>
            </a:r>
          </a:p>
        </p:txBody>
      </p:sp>
      <p:sp>
        <p:nvSpPr>
          <p:cNvPr id="30" name="TextBox 29 [s2]"/>
          <p:cNvSpPr txBox="1"/>
          <p:nvPr/>
        </p:nvSpPr>
        <p:spPr>
          <a:xfrm>
            <a:off x="6720840" y="5065775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1F5F9"/>
                </a:solidFill>
                <a:latin typeface="Calibri"/>
              </a:rPr>
              <a:t>Testing &amp; Conclusion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Results and future scope</a:t>
            </a:r>
          </a:p>
        </p:txBody>
      </p:sp>
      <p:pic>
        <p:nvPicPr>
          <p:cNvPr id="31" name="Corner cart [s2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32" name="Corner train [s2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33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02 / 17</a:t>
            </a:r>
          </a:p>
        </p:txBody>
      </p:sp>
      <p:pic>
        <p:nvPicPr>
          <p:cNvPr id="34" name="Previous slide" descr="slide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5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36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3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3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02  ·  PROBLEM &amp; OBJECTIVES</a:t>
            </a:r>
          </a:p>
        </p:txBody>
      </p:sp>
      <p:sp>
        <p:nvSpPr>
          <p:cNvPr id="4" name="Title [s3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Real-world forms, done right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3]"/>
          <p:cNvSpPr/>
          <p:nvPr/>
        </p:nvSpPr>
        <p:spPr>
          <a:xfrm>
            <a:off x="548640" y="1645920"/>
            <a:ext cx="4480560" cy="448056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3]"/>
          <p:cNvSpPr txBox="1"/>
          <p:nvPr/>
        </p:nvSpPr>
        <p:spPr>
          <a:xfrm>
            <a:off x="868680" y="1920240"/>
            <a:ext cx="3886200" cy="4023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sz="1200" b="0" i="0">
                <a:solidFill>
                  <a:srgbClr val="22D3EE"/>
                </a:solidFill>
                <a:latin typeface="Consolas"/>
              </a:rPr>
              <a:t>THE PROBLEM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F1F5F9"/>
                </a:solidFill>
                <a:latin typeface="Calibri"/>
              </a:rPr>
              <a:t>Booking a train ticket and shopping online both mean long forms, prices that depend on many rules, and plenty of user mistakes.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CBD5E1"/>
                </a:solidFill>
                <a:latin typeface="Calibri"/>
              </a:rPr>
              <a:t>We set out to build both as working desktop simulations that show how a GUI program takes input, checks it and produces the correct result.</a:t>
            </a:r>
          </a:p>
        </p:txBody>
      </p:sp>
      <p:sp>
        <p:nvSpPr>
          <p:cNvPr id="9" name="TextBox 8 [s3]"/>
          <p:cNvSpPr txBox="1"/>
          <p:nvPr/>
        </p:nvSpPr>
        <p:spPr>
          <a:xfrm>
            <a:off x="5440680" y="1645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OBJECTIVES</a:t>
            </a:r>
          </a:p>
        </p:txBody>
      </p:sp>
      <p:sp>
        <p:nvSpPr>
          <p:cNvPr id="10" name="Oval 9 [s3]"/>
          <p:cNvSpPr/>
          <p:nvPr/>
        </p:nvSpPr>
        <p:spPr>
          <a:xfrm>
            <a:off x="5440680" y="20574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 [s3]"/>
          <p:cNvSpPr txBox="1"/>
          <p:nvPr/>
        </p:nvSpPr>
        <p:spPr>
          <a:xfrm>
            <a:off x="5440680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 i="0">
                <a:solidFill>
                  <a:srgbClr val="070D1A"/>
                </a:solidFill>
                <a:latin typeface="Calibri"/>
              </a:rPr>
              <a:t>1</a:t>
            </a:r>
          </a:p>
        </p:txBody>
      </p:sp>
      <p:sp>
        <p:nvSpPr>
          <p:cNvPr id="12" name="TextBox 11 [s3]"/>
          <p:cNvSpPr txBox="1"/>
          <p:nvPr/>
        </p:nvSpPr>
        <p:spPr>
          <a:xfrm>
            <a:off x="6172200" y="2039112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Build two complete GUI applications with Java Swing / AWT under one home screen</a:t>
            </a:r>
          </a:p>
        </p:txBody>
      </p:sp>
      <p:sp>
        <p:nvSpPr>
          <p:cNvPr id="13" name="Oval 12 [s3]"/>
          <p:cNvSpPr/>
          <p:nvPr/>
        </p:nvSpPr>
        <p:spPr>
          <a:xfrm>
            <a:off x="5440680" y="288036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3]"/>
          <p:cNvSpPr txBox="1"/>
          <p:nvPr/>
        </p:nvSpPr>
        <p:spPr>
          <a:xfrm>
            <a:off x="5440680" y="2880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 i="0">
                <a:solidFill>
                  <a:srgbClr val="070D1A"/>
                </a:solidFill>
                <a:latin typeface="Calibri"/>
              </a:rPr>
              <a:t>2</a:t>
            </a:r>
          </a:p>
        </p:txBody>
      </p:sp>
      <p:sp>
        <p:nvSpPr>
          <p:cNvPr id="15" name="TextBox 14 [s3]"/>
          <p:cNvSpPr txBox="1"/>
          <p:nvPr/>
        </p:nvSpPr>
        <p:spPr>
          <a:xfrm>
            <a:off x="6172200" y="2862072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Apply OOP: classes, encapsulation, inheritance and polymorphism</a:t>
            </a:r>
          </a:p>
        </p:txBody>
      </p:sp>
      <p:sp>
        <p:nvSpPr>
          <p:cNvPr id="16" name="Oval 15 [s3]"/>
          <p:cNvSpPr/>
          <p:nvPr/>
        </p:nvSpPr>
        <p:spPr>
          <a:xfrm>
            <a:off x="5440680" y="370332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 [s3]"/>
          <p:cNvSpPr txBox="1"/>
          <p:nvPr/>
        </p:nvSpPr>
        <p:spPr>
          <a:xfrm>
            <a:off x="5440680" y="3703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 i="0">
                <a:solidFill>
                  <a:srgbClr val="070D1A"/>
                </a:solidFill>
                <a:latin typeface="Calibri"/>
              </a:rPr>
              <a:t>3</a:t>
            </a:r>
          </a:p>
        </p:txBody>
      </p:sp>
      <p:sp>
        <p:nvSpPr>
          <p:cNvPr id="18" name="TextBox 17 [s3]"/>
          <p:cNvSpPr txBox="1"/>
          <p:nvPr/>
        </p:nvSpPr>
        <p:spPr>
          <a:xfrm>
            <a:off x="6172200" y="3685032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Respond to every user action using the delegation event model</a:t>
            </a:r>
          </a:p>
        </p:txBody>
      </p:sp>
      <p:sp>
        <p:nvSpPr>
          <p:cNvPr id="19" name="Oval 18 [s3]"/>
          <p:cNvSpPr/>
          <p:nvPr/>
        </p:nvSpPr>
        <p:spPr>
          <a:xfrm>
            <a:off x="5440680" y="45262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 [s3]"/>
          <p:cNvSpPr txBox="1"/>
          <p:nvPr/>
        </p:nvSpPr>
        <p:spPr>
          <a:xfrm>
            <a:off x="5440680" y="4526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 i="0">
                <a:solidFill>
                  <a:srgbClr val="070D1A"/>
                </a:solidFill>
                <a:latin typeface="Calibri"/>
              </a:rPr>
              <a:t>4</a:t>
            </a:r>
          </a:p>
        </p:txBody>
      </p:sp>
      <p:sp>
        <p:nvSpPr>
          <p:cNvPr id="21" name="TextBox 20 [s3]"/>
          <p:cNvSpPr txBox="1"/>
          <p:nvPr/>
        </p:nvSpPr>
        <p:spPr>
          <a:xfrm>
            <a:off x="6172200" y="4507992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Validate all input and handle exceptions with clear messages</a:t>
            </a:r>
          </a:p>
        </p:txBody>
      </p:sp>
      <p:sp>
        <p:nvSpPr>
          <p:cNvPr id="22" name="Oval 21 [s3]"/>
          <p:cNvSpPr/>
          <p:nvPr/>
        </p:nvSpPr>
        <p:spPr>
          <a:xfrm>
            <a:off x="5440680" y="534924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 [s3]"/>
          <p:cNvSpPr txBox="1"/>
          <p:nvPr/>
        </p:nvSpPr>
        <p:spPr>
          <a:xfrm>
            <a:off x="5440680" y="5349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 i="0">
                <a:solidFill>
                  <a:srgbClr val="070D1A"/>
                </a:solidFill>
                <a:latin typeface="Calibri"/>
              </a:rPr>
              <a:t>5</a:t>
            </a:r>
          </a:p>
        </p:txBody>
      </p:sp>
      <p:sp>
        <p:nvSpPr>
          <p:cNvPr id="24" name="TextBox 23 [s3]"/>
          <p:cNvSpPr txBox="1"/>
          <p:nvPr/>
        </p:nvSpPr>
        <p:spPr>
          <a:xfrm>
            <a:off x="6172200" y="5330952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Deliver a tested build that compiles, runs and gives correct output</a:t>
            </a:r>
          </a:p>
        </p:txBody>
      </p:sp>
      <p:pic>
        <p:nvPicPr>
          <p:cNvPr id="25" name="Corner cart [s3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26" name="Corner train [s3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27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03 / 17</a:t>
            </a:r>
          </a:p>
        </p:txBody>
      </p:sp>
      <p:pic>
        <p:nvPicPr>
          <p:cNvPr id="28" name="Previous slide" descr="slide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9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30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4]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4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03  ·  SOLUTION OVERVIEW</a:t>
            </a:r>
          </a:p>
        </p:txBody>
      </p:sp>
      <p:sp>
        <p:nvSpPr>
          <p:cNvPr id="4" name="Title [s4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One suite, two applications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4]"/>
          <p:cNvSpPr/>
          <p:nvPr/>
        </p:nvSpPr>
        <p:spPr>
          <a:xfrm>
            <a:off x="548640" y="1645920"/>
            <a:ext cx="4800600" cy="365760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 [s4]" descr="train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74519"/>
            <a:ext cx="1558636" cy="1143000"/>
          </a:xfrm>
          <a:prstGeom prst="rect">
            <a:avLst/>
          </a:prstGeom>
        </p:spPr>
      </p:pic>
      <p:sp>
        <p:nvSpPr>
          <p:cNvPr id="9" name="TextBox 8 [s4]"/>
          <p:cNvSpPr txBox="1"/>
          <p:nvPr/>
        </p:nvSpPr>
        <p:spPr>
          <a:xfrm>
            <a:off x="2560320" y="196596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38BDF8"/>
                </a:solidFill>
                <a:latin typeface="Calibri"/>
              </a:rPr>
              <a:t>HD Rail</a:t>
            </a:r>
          </a:p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Railway Reservation Form</a:t>
            </a:r>
          </a:p>
        </p:txBody>
      </p:sp>
      <p:sp>
        <p:nvSpPr>
          <p:cNvPr id="10" name="TextBox 9 [s4]"/>
          <p:cNvSpPr txBox="1"/>
          <p:nvPr/>
        </p:nvSpPr>
        <p:spPr>
          <a:xfrm>
            <a:off x="914400" y="32918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1000"/>
              </a:spcAft>
              <a:buClr>
                <a:srgbClr val="38BDF8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Search trains between 6 cities</a:t>
            </a:r>
          </a:p>
          <a:p>
            <a:pPr algn="l" marL="256032" indent="-256032">
              <a:spcAft>
                <a:spcPts val="1000"/>
              </a:spcAft>
              <a:buClr>
                <a:srgbClr val="38BDF8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Fare breakup with concession &amp; GST</a:t>
            </a:r>
          </a:p>
          <a:p>
            <a:pPr algn="l" marL="256032" indent="-256032">
              <a:spcAft>
                <a:spcPts val="1000"/>
              </a:spcAft>
              <a:buClr>
                <a:srgbClr val="38BDF8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Berth allotment + waiting list</a:t>
            </a:r>
          </a:p>
          <a:p>
            <a:pPr algn="l" marL="256032" indent="-256032">
              <a:spcAft>
                <a:spcPts val="1000"/>
              </a:spcAft>
              <a:buClr>
                <a:srgbClr val="38BDF8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Cancel by PNR with refund</a:t>
            </a:r>
          </a:p>
        </p:txBody>
      </p:sp>
      <p:sp>
        <p:nvSpPr>
          <p:cNvPr id="11" name="Rounded Rectangle 10 [s4]"/>
          <p:cNvSpPr/>
          <p:nvPr/>
        </p:nvSpPr>
        <p:spPr>
          <a:xfrm>
            <a:off x="5623559" y="1645920"/>
            <a:ext cx="4800600" cy="365760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 [s4]" descr="cart-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599" y="1874519"/>
            <a:ext cx="1143000" cy="1143000"/>
          </a:xfrm>
          <a:prstGeom prst="rect">
            <a:avLst/>
          </a:prstGeom>
        </p:spPr>
      </p:pic>
      <p:sp>
        <p:nvSpPr>
          <p:cNvPr id="13" name="TextBox 12 [s4]"/>
          <p:cNvSpPr txBox="1"/>
          <p:nvPr/>
        </p:nvSpPr>
        <p:spPr>
          <a:xfrm>
            <a:off x="7635240" y="196596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FB923C"/>
                </a:solidFill>
                <a:latin typeface="Calibri"/>
              </a:rPr>
              <a:t>HD Cart</a:t>
            </a:r>
          </a:p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Online Shopping Cart Simulation</a:t>
            </a:r>
          </a:p>
        </p:txBody>
      </p:sp>
      <p:sp>
        <p:nvSpPr>
          <p:cNvPr id="14" name="TextBox 13 [s4]"/>
          <p:cNvSpPr txBox="1"/>
          <p:nvPr/>
        </p:nvSpPr>
        <p:spPr>
          <a:xfrm>
            <a:off x="5989320" y="32918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1000"/>
              </a:spcAft>
              <a:buClr>
                <a:srgbClr val="FB923C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13 products with pictures &amp; ratings</a:t>
            </a:r>
          </a:p>
          <a:p>
            <a:pPr algn="l" marL="256032" indent="-256032">
              <a:spcAft>
                <a:spcPts val="1000"/>
              </a:spcAft>
              <a:buClr>
                <a:srgbClr val="FB923C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Category tax, coupons, delivery</a:t>
            </a:r>
          </a:p>
          <a:p>
            <a:pPr algn="l" marL="256032" indent="-256032">
              <a:spcAft>
                <a:spcPts val="1000"/>
              </a:spcAft>
              <a:buClr>
                <a:srgbClr val="FB923C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Live cart with - / + steppers</a:t>
            </a:r>
          </a:p>
          <a:p>
            <a:pPr algn="l" marL="256032" indent="-256032">
              <a:spcAft>
                <a:spcPts val="1000"/>
              </a:spcAft>
              <a:buClr>
                <a:srgbClr val="FB923C"/>
              </a:buClr>
              <a:buFont typeface="Arial"/>
              <a:buChar char="■"/>
            </a:pPr>
            <a:r>
              <a:rPr sz="1600" b="0" i="0">
                <a:solidFill>
                  <a:srgbClr val="F1F5F9"/>
                </a:solidFill>
                <a:latin typeface="Calibri"/>
              </a:rPr>
              <a:t>Checkout, payment, order receipt</a:t>
            </a:r>
          </a:p>
        </p:txBody>
      </p:sp>
      <p:sp>
        <p:nvSpPr>
          <p:cNvPr id="15" name="TextBox 14 [s4]"/>
          <p:cNvSpPr txBox="1"/>
          <p:nvPr/>
        </p:nvSpPr>
        <p:spPr>
          <a:xfrm>
            <a:off x="548640" y="55778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CBD5E1"/>
                </a:solidFill>
                <a:latin typeface="Calibri"/>
              </a:rPr>
              <a:t>Both open from one home screen, </a:t>
            </a:r>
            <a:r>
              <a:rPr sz="1700" b="1" i="0">
                <a:solidFill>
                  <a:srgbClr val="22D3EE"/>
                </a:solidFill>
                <a:latin typeface="Calibri"/>
              </a:rPr>
              <a:t>HD Suite</a:t>
            </a:r>
            <a:r>
              <a:rPr sz="1700" b="0" i="0">
                <a:solidFill>
                  <a:srgbClr val="CBD5E1"/>
                </a:solidFill>
                <a:latin typeface="Calibri"/>
              </a:rPr>
              <a:t>, and share the same validation and utility classes</a:t>
            </a:r>
          </a:p>
        </p:txBody>
      </p:sp>
      <p:pic>
        <p:nvPicPr>
          <p:cNvPr id="16" name="Corner cart [s4]" descr="cart-orange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17" name="Corner train [s4]" descr="train-cyan-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18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04 / 17</a:t>
            </a:r>
          </a:p>
        </p:txBody>
      </p:sp>
      <p:pic>
        <p:nvPicPr>
          <p:cNvPr id="19" name="Previous slide" descr="slide-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0" name="Big cart" descr="cart-orange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21" name="Big train" descr="train-cyan-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5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5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04  ·  TOOLS &amp; TECHNOLOGIES</a:t>
            </a:r>
          </a:p>
        </p:txBody>
      </p:sp>
      <p:sp>
        <p:nvSpPr>
          <p:cNvPr id="4" name="Title [s5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Built with core Java only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5]"/>
          <p:cNvSpPr/>
          <p:nvPr/>
        </p:nvSpPr>
        <p:spPr>
          <a:xfrm>
            <a:off x="548640" y="164592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5]"/>
          <p:cNvSpPr txBox="1"/>
          <p:nvPr/>
        </p:nvSpPr>
        <p:spPr>
          <a:xfrm>
            <a:off x="822959" y="1847088"/>
            <a:ext cx="260604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JAVA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JDK 17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Compiled with --release 8, so it also runs on older lab PCs</a:t>
            </a:r>
          </a:p>
        </p:txBody>
      </p:sp>
      <p:sp>
        <p:nvSpPr>
          <p:cNvPr id="9" name="Rounded Rectangle 8 [s5]"/>
          <p:cNvSpPr/>
          <p:nvPr/>
        </p:nvSpPr>
        <p:spPr>
          <a:xfrm>
            <a:off x="3886200" y="164592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 [s5]"/>
          <p:cNvSpPr txBox="1"/>
          <p:nvPr/>
        </p:nvSpPr>
        <p:spPr>
          <a:xfrm>
            <a:off x="4160520" y="1847088"/>
            <a:ext cx="260604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SWING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javax.swing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JFrame, JButton, JComboBox, JRadioButton, JCheckBox, JTable, JMenuBar</a:t>
            </a:r>
          </a:p>
        </p:txBody>
      </p:sp>
      <p:sp>
        <p:nvSpPr>
          <p:cNvPr id="11" name="Rounded Rectangle 10 [s5]"/>
          <p:cNvSpPr/>
          <p:nvPr/>
        </p:nvSpPr>
        <p:spPr>
          <a:xfrm>
            <a:off x="7223759" y="164592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 [s5]"/>
          <p:cNvSpPr txBox="1"/>
          <p:nvPr/>
        </p:nvSpPr>
        <p:spPr>
          <a:xfrm>
            <a:off x="7498079" y="1847088"/>
            <a:ext cx="260604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AWT + JAVA 2D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java.awt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Layout managers, events, Graphics2D drawings of every picture</a:t>
            </a:r>
          </a:p>
        </p:txBody>
      </p:sp>
      <p:sp>
        <p:nvSpPr>
          <p:cNvPr id="13" name="Rounded Rectangle 12 [s5]"/>
          <p:cNvSpPr/>
          <p:nvPr/>
        </p:nvSpPr>
        <p:spPr>
          <a:xfrm>
            <a:off x="548640" y="365760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5]"/>
          <p:cNvSpPr txBox="1"/>
          <p:nvPr/>
        </p:nvSpPr>
        <p:spPr>
          <a:xfrm>
            <a:off x="822959" y="3858768"/>
            <a:ext cx="260604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JAVA.TIME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LocalDate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Parses and checks journey dates in dd-MM-yyyy format</a:t>
            </a:r>
          </a:p>
        </p:txBody>
      </p:sp>
      <p:sp>
        <p:nvSpPr>
          <p:cNvPr id="15" name="Rounded Rectangle 14 [s5]"/>
          <p:cNvSpPr/>
          <p:nvPr/>
        </p:nvSpPr>
        <p:spPr>
          <a:xfrm>
            <a:off x="3886200" y="365760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 [s5]"/>
          <p:cNvSpPr txBox="1"/>
          <p:nvPr/>
        </p:nvSpPr>
        <p:spPr>
          <a:xfrm>
            <a:off x="4160520" y="3858768"/>
            <a:ext cx="260604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COLLECTIONS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java.util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ArrayList, TreeSet and Comparator for bookings, cart and sorting</a:t>
            </a:r>
          </a:p>
        </p:txBody>
      </p:sp>
      <p:sp>
        <p:nvSpPr>
          <p:cNvPr id="17" name="Rounded Rectangle 16 [s5]"/>
          <p:cNvSpPr/>
          <p:nvPr/>
        </p:nvSpPr>
        <p:spPr>
          <a:xfrm>
            <a:off x="7223759" y="365760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 [s5]"/>
          <p:cNvSpPr txBox="1"/>
          <p:nvPr/>
        </p:nvSpPr>
        <p:spPr>
          <a:xfrm>
            <a:off x="7498079" y="3858768"/>
            <a:ext cx="260604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TOOLING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javac + java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Any editor; run.bat compiles and starts the app in one click</a:t>
            </a:r>
          </a:p>
        </p:txBody>
      </p:sp>
      <p:sp>
        <p:nvSpPr>
          <p:cNvPr id="19" name="TextBox 18 [s5]"/>
          <p:cNvSpPr txBox="1"/>
          <p:nvPr/>
        </p:nvSpPr>
        <p:spPr>
          <a:xfrm>
            <a:off x="548640" y="57607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0</a:t>
            </a:r>
            <a:r>
              <a:rPr sz="1800" b="0" i="0">
                <a:solidFill>
                  <a:srgbClr val="CBD5E1"/>
                </a:solidFill>
                <a:latin typeface="Calibri"/>
              </a:rPr>
              <a:t> external libraries     </a:t>
            </a:r>
            <a:r>
              <a:rPr sz="1800" b="1" i="0">
                <a:solidFill>
                  <a:srgbClr val="22D3EE"/>
                </a:solidFill>
                <a:latin typeface="Calibri"/>
              </a:rPr>
              <a:t>0</a:t>
            </a:r>
            <a:r>
              <a:rPr sz="1800" b="0" i="0">
                <a:solidFill>
                  <a:srgbClr val="CBD5E1"/>
                </a:solidFill>
                <a:latin typeface="Calibri"/>
              </a:rPr>
              <a:t> image files     </a:t>
            </a:r>
            <a:r>
              <a:rPr sz="1800" b="1" i="0">
                <a:solidFill>
                  <a:srgbClr val="22D3EE"/>
                </a:solidFill>
                <a:latin typeface="Calibri"/>
              </a:rPr>
              <a:t>29</a:t>
            </a:r>
            <a:r>
              <a:rPr sz="1800" b="0" i="0">
                <a:solidFill>
                  <a:srgbClr val="CBD5E1"/>
                </a:solidFill>
                <a:latin typeface="Calibri"/>
              </a:rPr>
              <a:t> Java source files     </a:t>
            </a:r>
            <a:r>
              <a:rPr sz="1800" b="1" i="0">
                <a:solidFill>
                  <a:srgbClr val="22D3EE"/>
                </a:solidFill>
                <a:latin typeface="Calibri"/>
              </a:rPr>
              <a:t>4,859</a:t>
            </a:r>
            <a:r>
              <a:rPr sz="1800" b="0" i="0">
                <a:solidFill>
                  <a:srgbClr val="CBD5E1"/>
                </a:solidFill>
                <a:latin typeface="Calibri"/>
              </a:rPr>
              <a:t> lines of code</a:t>
            </a:r>
          </a:p>
        </p:txBody>
      </p:sp>
      <p:pic>
        <p:nvPicPr>
          <p:cNvPr id="20" name="Corner cart [s5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21" name="Corner train [s5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22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05 / 17</a:t>
            </a:r>
          </a:p>
        </p:txBody>
      </p:sp>
      <p:pic>
        <p:nvPicPr>
          <p:cNvPr id="23" name="Previous slide" descr="slide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4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25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6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6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05  ·  SYSTEM ARCHITECTURE</a:t>
            </a:r>
          </a:p>
        </p:txBody>
      </p:sp>
      <p:sp>
        <p:nvSpPr>
          <p:cNvPr id="4" name="Title [s6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Three clean layers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6]"/>
          <p:cNvSpPr/>
          <p:nvPr/>
        </p:nvSpPr>
        <p:spPr>
          <a:xfrm>
            <a:off x="548640" y="1645920"/>
            <a:ext cx="9875520" cy="128016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587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6]"/>
          <p:cNvSpPr txBox="1"/>
          <p:nvPr/>
        </p:nvSpPr>
        <p:spPr>
          <a:xfrm>
            <a:off x="777240" y="178308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38BDF8"/>
                </a:solidFill>
                <a:latin typeface="Consolas"/>
              </a:rPr>
              <a:t>PRESENTATION  (GUI)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What the user sees and clicks</a:t>
            </a:r>
          </a:p>
        </p:txBody>
      </p:sp>
      <p:sp>
        <p:nvSpPr>
          <p:cNvPr id="9" name="Rounded Rectangle 8 [s6]"/>
          <p:cNvSpPr/>
          <p:nvPr/>
        </p:nvSpPr>
        <p:spPr>
          <a:xfrm>
            <a:off x="3291840" y="1847088"/>
            <a:ext cx="707745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 [s6]"/>
          <p:cNvSpPr txBox="1"/>
          <p:nvPr/>
        </p:nvSpPr>
        <p:spPr>
          <a:xfrm>
            <a:off x="3291840" y="1847088"/>
            <a:ext cx="70774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MainApp</a:t>
            </a:r>
          </a:p>
        </p:txBody>
      </p:sp>
      <p:sp>
        <p:nvSpPr>
          <p:cNvPr id="11" name="Rounded Rectangle 10 [s6]"/>
          <p:cNvSpPr/>
          <p:nvPr/>
        </p:nvSpPr>
        <p:spPr>
          <a:xfrm>
            <a:off x="4109313" y="1847088"/>
            <a:ext cx="2053742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 [s6]"/>
          <p:cNvSpPr txBox="1"/>
          <p:nvPr/>
        </p:nvSpPr>
        <p:spPr>
          <a:xfrm>
            <a:off x="4109313" y="1847088"/>
            <a:ext cx="2053742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RailwayReservationFrame</a:t>
            </a:r>
          </a:p>
        </p:txBody>
      </p:sp>
      <p:sp>
        <p:nvSpPr>
          <p:cNvPr id="13" name="Rounded Rectangle 12 [s6]"/>
          <p:cNvSpPr/>
          <p:nvPr/>
        </p:nvSpPr>
        <p:spPr>
          <a:xfrm>
            <a:off x="6272783" y="1847088"/>
            <a:ext cx="1128369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6]"/>
          <p:cNvSpPr txBox="1"/>
          <p:nvPr/>
        </p:nvSpPr>
        <p:spPr>
          <a:xfrm>
            <a:off x="6272783" y="1847088"/>
            <a:ext cx="112836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JourneyPanel</a:t>
            </a:r>
          </a:p>
        </p:txBody>
      </p:sp>
      <p:sp>
        <p:nvSpPr>
          <p:cNvPr id="15" name="Rounded Rectangle 14 [s6]"/>
          <p:cNvSpPr/>
          <p:nvPr/>
        </p:nvSpPr>
        <p:spPr>
          <a:xfrm>
            <a:off x="7510881" y="1847088"/>
            <a:ext cx="1548993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 [s6]"/>
          <p:cNvSpPr txBox="1"/>
          <p:nvPr/>
        </p:nvSpPr>
        <p:spPr>
          <a:xfrm>
            <a:off x="7510881" y="1847088"/>
            <a:ext cx="1548993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ShoppingCartFrame</a:t>
            </a:r>
          </a:p>
        </p:txBody>
      </p:sp>
      <p:sp>
        <p:nvSpPr>
          <p:cNvPr id="17" name="Rounded Rectangle 16 [s6]"/>
          <p:cNvSpPr/>
          <p:nvPr/>
        </p:nvSpPr>
        <p:spPr>
          <a:xfrm>
            <a:off x="9169603" y="1847088"/>
            <a:ext cx="1044244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 [s6]"/>
          <p:cNvSpPr txBox="1"/>
          <p:nvPr/>
        </p:nvSpPr>
        <p:spPr>
          <a:xfrm>
            <a:off x="9169603" y="1847088"/>
            <a:ext cx="1044244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ProductCard</a:t>
            </a:r>
          </a:p>
        </p:txBody>
      </p:sp>
      <p:sp>
        <p:nvSpPr>
          <p:cNvPr id="19" name="Rounded Rectangle 18 [s6]"/>
          <p:cNvSpPr/>
          <p:nvPr/>
        </p:nvSpPr>
        <p:spPr>
          <a:xfrm>
            <a:off x="3291840" y="2304288"/>
            <a:ext cx="707745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 [s6]"/>
          <p:cNvSpPr txBox="1"/>
          <p:nvPr/>
        </p:nvSpPr>
        <p:spPr>
          <a:xfrm>
            <a:off x="3291840" y="2304288"/>
            <a:ext cx="70774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CartRow</a:t>
            </a:r>
          </a:p>
        </p:txBody>
      </p:sp>
      <p:sp>
        <p:nvSpPr>
          <p:cNvPr id="21" name="Rounded Rectangle 20 [s6]"/>
          <p:cNvSpPr/>
          <p:nvPr/>
        </p:nvSpPr>
        <p:spPr>
          <a:xfrm>
            <a:off x="4109313" y="2304288"/>
            <a:ext cx="1296619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 [s6]"/>
          <p:cNvSpPr txBox="1"/>
          <p:nvPr/>
        </p:nvSpPr>
        <p:spPr>
          <a:xfrm>
            <a:off x="4109313" y="2304288"/>
            <a:ext cx="129661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CheckoutDialog</a:t>
            </a:r>
          </a:p>
        </p:txBody>
      </p:sp>
      <p:sp>
        <p:nvSpPr>
          <p:cNvPr id="23" name="Down Arrow 22 [s6]"/>
          <p:cNvSpPr/>
          <p:nvPr/>
        </p:nvSpPr>
        <p:spPr>
          <a:xfrm>
            <a:off x="5349240" y="2962656"/>
            <a:ext cx="274320" cy="27432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 [s6]"/>
          <p:cNvSpPr/>
          <p:nvPr/>
        </p:nvSpPr>
        <p:spPr>
          <a:xfrm>
            <a:off x="548640" y="3246120"/>
            <a:ext cx="9875520" cy="128016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 [s6]"/>
          <p:cNvSpPr txBox="1"/>
          <p:nvPr/>
        </p:nvSpPr>
        <p:spPr>
          <a:xfrm>
            <a:off x="777240" y="3383279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FB923C"/>
                </a:solidFill>
                <a:latin typeface="Consolas"/>
              </a:rPr>
              <a:t>LOGIC &amp; MODEL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Rules, data and calculations</a:t>
            </a:r>
          </a:p>
        </p:txBody>
      </p:sp>
      <p:sp>
        <p:nvSpPr>
          <p:cNvPr id="26" name="Rounded Rectangle 25 [s6]"/>
          <p:cNvSpPr/>
          <p:nvPr/>
        </p:nvSpPr>
        <p:spPr>
          <a:xfrm>
            <a:off x="3291840" y="3447288"/>
            <a:ext cx="1548993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 [s6]"/>
          <p:cNvSpPr txBox="1"/>
          <p:nvPr/>
        </p:nvSpPr>
        <p:spPr>
          <a:xfrm>
            <a:off x="3291840" y="3447288"/>
            <a:ext cx="1548993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ReservationSystem</a:t>
            </a:r>
          </a:p>
        </p:txBody>
      </p:sp>
      <p:sp>
        <p:nvSpPr>
          <p:cNvPr id="28" name="Rounded Rectangle 27 [s6]"/>
          <p:cNvSpPr/>
          <p:nvPr/>
        </p:nvSpPr>
        <p:spPr>
          <a:xfrm>
            <a:off x="4950561" y="3447288"/>
            <a:ext cx="1464868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 [s6]"/>
          <p:cNvSpPr txBox="1"/>
          <p:nvPr/>
        </p:nvSpPr>
        <p:spPr>
          <a:xfrm>
            <a:off x="4950561" y="3447288"/>
            <a:ext cx="146486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Ticket + 3 types</a:t>
            </a:r>
          </a:p>
        </p:txBody>
      </p:sp>
      <p:sp>
        <p:nvSpPr>
          <p:cNvPr id="30" name="Rounded Rectangle 29 [s6]"/>
          <p:cNvSpPr/>
          <p:nvPr/>
        </p:nvSpPr>
        <p:spPr>
          <a:xfrm>
            <a:off x="6525158" y="3447288"/>
            <a:ext cx="539496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 [s6]"/>
          <p:cNvSpPr txBox="1"/>
          <p:nvPr/>
        </p:nvSpPr>
        <p:spPr>
          <a:xfrm>
            <a:off x="6525158" y="3447288"/>
            <a:ext cx="539496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Train</a:t>
            </a:r>
          </a:p>
        </p:txBody>
      </p:sp>
      <p:sp>
        <p:nvSpPr>
          <p:cNvPr id="32" name="Rounded Rectangle 31 [s6]"/>
          <p:cNvSpPr/>
          <p:nvPr/>
        </p:nvSpPr>
        <p:spPr>
          <a:xfrm>
            <a:off x="7174382" y="3447288"/>
            <a:ext cx="875995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 [s6]"/>
          <p:cNvSpPr txBox="1"/>
          <p:nvPr/>
        </p:nvSpPr>
        <p:spPr>
          <a:xfrm>
            <a:off x="7174382" y="3447288"/>
            <a:ext cx="87599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Passenger</a:t>
            </a:r>
          </a:p>
        </p:txBody>
      </p:sp>
      <p:sp>
        <p:nvSpPr>
          <p:cNvPr id="34" name="Rounded Rectangle 33 [s6]"/>
          <p:cNvSpPr/>
          <p:nvPr/>
        </p:nvSpPr>
        <p:spPr>
          <a:xfrm>
            <a:off x="8160105" y="3447288"/>
            <a:ext cx="539496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 [s6]"/>
          <p:cNvSpPr txBox="1"/>
          <p:nvPr/>
        </p:nvSpPr>
        <p:spPr>
          <a:xfrm>
            <a:off x="8160105" y="3447288"/>
            <a:ext cx="539496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Store</a:t>
            </a:r>
          </a:p>
        </p:txBody>
      </p:sp>
      <p:sp>
        <p:nvSpPr>
          <p:cNvPr id="36" name="Rounded Rectangle 35 [s6]"/>
          <p:cNvSpPr/>
          <p:nvPr/>
        </p:nvSpPr>
        <p:spPr>
          <a:xfrm>
            <a:off x="8809329" y="3447288"/>
            <a:ext cx="1128369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 [s6]"/>
          <p:cNvSpPr txBox="1"/>
          <p:nvPr/>
        </p:nvSpPr>
        <p:spPr>
          <a:xfrm>
            <a:off x="8809329" y="3447288"/>
            <a:ext cx="112836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ShoppingCart</a:t>
            </a:r>
          </a:p>
        </p:txBody>
      </p:sp>
      <p:sp>
        <p:nvSpPr>
          <p:cNvPr id="38" name="Rounded Rectangle 37 [s6]"/>
          <p:cNvSpPr/>
          <p:nvPr/>
        </p:nvSpPr>
        <p:spPr>
          <a:xfrm>
            <a:off x="3291840" y="3904487"/>
            <a:ext cx="791870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 [s6]"/>
          <p:cNvSpPr txBox="1"/>
          <p:nvPr/>
        </p:nvSpPr>
        <p:spPr>
          <a:xfrm>
            <a:off x="3291840" y="3904487"/>
            <a:ext cx="79187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CartItem</a:t>
            </a:r>
          </a:p>
        </p:txBody>
      </p:sp>
      <p:sp>
        <p:nvSpPr>
          <p:cNvPr id="40" name="Rounded Rectangle 39 [s6]"/>
          <p:cNvSpPr/>
          <p:nvPr/>
        </p:nvSpPr>
        <p:spPr>
          <a:xfrm>
            <a:off x="4193438" y="3904487"/>
            <a:ext cx="1548993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 [s6]"/>
          <p:cNvSpPr txBox="1"/>
          <p:nvPr/>
        </p:nvSpPr>
        <p:spPr>
          <a:xfrm>
            <a:off x="4193438" y="3904487"/>
            <a:ext cx="1548993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Product + 4 types</a:t>
            </a:r>
          </a:p>
        </p:txBody>
      </p:sp>
      <p:sp>
        <p:nvSpPr>
          <p:cNvPr id="42" name="Rounded Rectangle 41 [s6]"/>
          <p:cNvSpPr/>
          <p:nvPr/>
        </p:nvSpPr>
        <p:spPr>
          <a:xfrm>
            <a:off x="5852160" y="3904487"/>
            <a:ext cx="623620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 [s6]"/>
          <p:cNvSpPr txBox="1"/>
          <p:nvPr/>
        </p:nvSpPr>
        <p:spPr>
          <a:xfrm>
            <a:off x="5852160" y="3904487"/>
            <a:ext cx="6236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Coupon</a:t>
            </a:r>
          </a:p>
        </p:txBody>
      </p:sp>
      <p:sp>
        <p:nvSpPr>
          <p:cNvPr id="44" name="Down Arrow 43 [s6]"/>
          <p:cNvSpPr/>
          <p:nvPr/>
        </p:nvSpPr>
        <p:spPr>
          <a:xfrm>
            <a:off x="5349240" y="4562856"/>
            <a:ext cx="274320" cy="27432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 [s6]"/>
          <p:cNvSpPr/>
          <p:nvPr/>
        </p:nvSpPr>
        <p:spPr>
          <a:xfrm>
            <a:off x="548640" y="4846320"/>
            <a:ext cx="9875520" cy="128016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587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 [s6]"/>
          <p:cNvSpPr txBox="1"/>
          <p:nvPr/>
        </p:nvSpPr>
        <p:spPr>
          <a:xfrm>
            <a:off x="777240" y="498348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34D399"/>
                </a:solidFill>
                <a:latin typeface="Consolas"/>
              </a:rPr>
              <a:t>COMMON UTILITIES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Shared helpers for both modules</a:t>
            </a:r>
          </a:p>
        </p:txBody>
      </p:sp>
      <p:sp>
        <p:nvSpPr>
          <p:cNvPr id="47" name="Rounded Rectangle 46 [s6]"/>
          <p:cNvSpPr/>
          <p:nvPr/>
        </p:nvSpPr>
        <p:spPr>
          <a:xfrm>
            <a:off x="3291840" y="5047488"/>
            <a:ext cx="875995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 [s6]"/>
          <p:cNvSpPr txBox="1"/>
          <p:nvPr/>
        </p:nvSpPr>
        <p:spPr>
          <a:xfrm>
            <a:off x="3291840" y="5047488"/>
            <a:ext cx="87599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Validator</a:t>
            </a:r>
          </a:p>
        </p:txBody>
      </p:sp>
      <p:sp>
        <p:nvSpPr>
          <p:cNvPr id="49" name="Rounded Rectangle 48 [s6]"/>
          <p:cNvSpPr/>
          <p:nvPr/>
        </p:nvSpPr>
        <p:spPr>
          <a:xfrm>
            <a:off x="4277563" y="5047488"/>
            <a:ext cx="1717243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 [s6]"/>
          <p:cNvSpPr txBox="1"/>
          <p:nvPr/>
        </p:nvSpPr>
        <p:spPr>
          <a:xfrm>
            <a:off x="4277563" y="5047488"/>
            <a:ext cx="1717243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ValidationException</a:t>
            </a:r>
          </a:p>
        </p:txBody>
      </p:sp>
      <p:sp>
        <p:nvSpPr>
          <p:cNvPr id="51" name="Rounded Rectangle 50 [s6]"/>
          <p:cNvSpPr/>
          <p:nvPr/>
        </p:nvSpPr>
        <p:spPr>
          <a:xfrm>
            <a:off x="6104534" y="5047488"/>
            <a:ext cx="539496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 [s6]"/>
          <p:cNvSpPr txBox="1"/>
          <p:nvPr/>
        </p:nvSpPr>
        <p:spPr>
          <a:xfrm>
            <a:off x="6104534" y="5047488"/>
            <a:ext cx="539496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Money</a:t>
            </a:r>
          </a:p>
        </p:txBody>
      </p:sp>
      <p:sp>
        <p:nvSpPr>
          <p:cNvPr id="53" name="Rounded Rectangle 52 [s6]"/>
          <p:cNvSpPr/>
          <p:nvPr/>
        </p:nvSpPr>
        <p:spPr>
          <a:xfrm>
            <a:off x="6753758" y="5047488"/>
            <a:ext cx="371246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 [s6]"/>
          <p:cNvSpPr txBox="1"/>
          <p:nvPr/>
        </p:nvSpPr>
        <p:spPr>
          <a:xfrm>
            <a:off x="6753758" y="5047488"/>
            <a:ext cx="371246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Art</a:t>
            </a:r>
          </a:p>
        </p:txBody>
      </p:sp>
      <p:sp>
        <p:nvSpPr>
          <p:cNvPr id="55" name="Rounded Rectangle 54 [s6]"/>
          <p:cNvSpPr/>
          <p:nvPr/>
        </p:nvSpPr>
        <p:spPr>
          <a:xfrm>
            <a:off x="7234732" y="5047488"/>
            <a:ext cx="623620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 [s6]"/>
          <p:cNvSpPr txBox="1"/>
          <p:nvPr/>
        </p:nvSpPr>
        <p:spPr>
          <a:xfrm>
            <a:off x="7234732" y="5047488"/>
            <a:ext cx="6236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UiUtil</a:t>
            </a:r>
          </a:p>
        </p:txBody>
      </p:sp>
      <p:sp>
        <p:nvSpPr>
          <p:cNvPr id="57" name="Rounded Rectangle 56 [s6]"/>
          <p:cNvSpPr/>
          <p:nvPr/>
        </p:nvSpPr>
        <p:spPr>
          <a:xfrm>
            <a:off x="7968081" y="5047488"/>
            <a:ext cx="960119" cy="365760"/>
          </a:xfrm>
          <a:prstGeom prst="roundRect">
            <a:avLst>
              <a:gd name="adj" fmla="val 30000"/>
            </a:avLst>
          </a:prstGeom>
          <a:solidFill>
            <a:srgbClr val="13243F"/>
          </a:solidFill>
          <a:ln w="952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 [s6]"/>
          <p:cNvSpPr txBox="1"/>
          <p:nvPr/>
        </p:nvSpPr>
        <p:spPr>
          <a:xfrm>
            <a:off x="7968081" y="5047488"/>
            <a:ext cx="96011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0" i="0">
                <a:solidFill>
                  <a:srgbClr val="F1F5F9"/>
                </a:solidFill>
                <a:latin typeface="Consolas"/>
              </a:rPr>
              <a:t>FlatButton</a:t>
            </a:r>
          </a:p>
        </p:txBody>
      </p:sp>
      <p:pic>
        <p:nvPicPr>
          <p:cNvPr id="59" name="Corner cart [s6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60" name="Corner train [s6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61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06 / 17</a:t>
            </a:r>
          </a:p>
        </p:txBody>
      </p:sp>
      <p:pic>
        <p:nvPicPr>
          <p:cNvPr id="62" name="Previous slide" descr="slide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3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64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7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7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06  ·  OOP CONCEPTS</a:t>
            </a:r>
          </a:p>
        </p:txBody>
      </p:sp>
      <p:sp>
        <p:nvSpPr>
          <p:cNvPr id="4" name="Title [s7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Inheritance and polymorphism at work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7]"/>
          <p:cNvSpPr/>
          <p:nvPr/>
        </p:nvSpPr>
        <p:spPr>
          <a:xfrm>
            <a:off x="2194560" y="169164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7]"/>
          <p:cNvSpPr txBox="1"/>
          <p:nvPr/>
        </p:nvSpPr>
        <p:spPr>
          <a:xfrm>
            <a:off x="2194560" y="1691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070D1A"/>
                </a:solidFill>
                <a:latin typeface="Calibri"/>
              </a:rPr>
              <a:t>Ticket</a:t>
            </a:r>
            <a:r>
              <a:rPr sz="1200" b="0" i="0">
                <a:solidFill>
                  <a:srgbClr val="070D1A"/>
                </a:solidFill>
                <a:latin typeface="Calibri"/>
              </a:rPr>
              <a:t>  (abstract)</a:t>
            </a:r>
          </a:p>
        </p:txBody>
      </p:sp>
      <p:cxnSp>
        <p:nvCxnSpPr>
          <p:cNvPr id="9" name="Connector 8 [s7]"/>
          <p:cNvCxnSpPr/>
          <p:nvPr/>
        </p:nvCxnSpPr>
        <p:spPr>
          <a:xfrm flipH="1">
            <a:off x="1481328" y="2240280"/>
            <a:ext cx="2039111" cy="50292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 [s7]"/>
          <p:cNvSpPr/>
          <p:nvPr/>
        </p:nvSpPr>
        <p:spPr>
          <a:xfrm>
            <a:off x="544068" y="2743200"/>
            <a:ext cx="1874519" cy="502920"/>
          </a:xfrm>
          <a:prstGeom prst="roundRect">
            <a:avLst>
              <a:gd name="adj" fmla="val 20000"/>
            </a:avLst>
          </a:prstGeom>
          <a:solidFill>
            <a:srgbClr val="13243F"/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 [s7]"/>
          <p:cNvSpPr txBox="1"/>
          <p:nvPr/>
        </p:nvSpPr>
        <p:spPr>
          <a:xfrm>
            <a:off x="544068" y="274320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0" i="0">
                <a:solidFill>
                  <a:srgbClr val="F1F5F9"/>
                </a:solidFill>
                <a:latin typeface="Consolas"/>
              </a:rPr>
              <a:t>SleeperTicket</a:t>
            </a:r>
          </a:p>
        </p:txBody>
      </p:sp>
      <p:cxnSp>
        <p:nvCxnSpPr>
          <p:cNvPr id="12" name="Connector 11 [s7]"/>
          <p:cNvCxnSpPr/>
          <p:nvPr/>
        </p:nvCxnSpPr>
        <p:spPr>
          <a:xfrm>
            <a:off x="3520439" y="2240280"/>
            <a:ext cx="1" cy="50292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 [s7]"/>
          <p:cNvSpPr/>
          <p:nvPr/>
        </p:nvSpPr>
        <p:spPr>
          <a:xfrm>
            <a:off x="2583180" y="2743200"/>
            <a:ext cx="1874519" cy="502920"/>
          </a:xfrm>
          <a:prstGeom prst="roundRect">
            <a:avLst>
              <a:gd name="adj" fmla="val 20000"/>
            </a:avLst>
          </a:prstGeom>
          <a:solidFill>
            <a:srgbClr val="13243F"/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7]"/>
          <p:cNvSpPr txBox="1"/>
          <p:nvPr/>
        </p:nvSpPr>
        <p:spPr>
          <a:xfrm>
            <a:off x="2583180" y="274320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0" i="0">
                <a:solidFill>
                  <a:srgbClr val="F1F5F9"/>
                </a:solidFill>
                <a:latin typeface="Consolas"/>
              </a:rPr>
              <a:t>AcThreeTierTicket</a:t>
            </a:r>
          </a:p>
        </p:txBody>
      </p:sp>
      <p:cxnSp>
        <p:nvCxnSpPr>
          <p:cNvPr id="15" name="Connector 14 [s7]"/>
          <p:cNvCxnSpPr/>
          <p:nvPr/>
        </p:nvCxnSpPr>
        <p:spPr>
          <a:xfrm>
            <a:off x="3520439" y="2240280"/>
            <a:ext cx="2039113" cy="50292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 [s7]"/>
          <p:cNvSpPr/>
          <p:nvPr/>
        </p:nvSpPr>
        <p:spPr>
          <a:xfrm>
            <a:off x="4622292" y="2743200"/>
            <a:ext cx="1874519" cy="502920"/>
          </a:xfrm>
          <a:prstGeom prst="roundRect">
            <a:avLst>
              <a:gd name="adj" fmla="val 20000"/>
            </a:avLst>
          </a:prstGeom>
          <a:solidFill>
            <a:srgbClr val="13243F"/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 [s7]"/>
          <p:cNvSpPr txBox="1"/>
          <p:nvPr/>
        </p:nvSpPr>
        <p:spPr>
          <a:xfrm>
            <a:off x="4622292" y="274320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0" i="0">
                <a:solidFill>
                  <a:srgbClr val="F1F5F9"/>
                </a:solidFill>
                <a:latin typeface="Consolas"/>
              </a:rPr>
              <a:t>AcTwoTierTicket</a:t>
            </a:r>
          </a:p>
        </p:txBody>
      </p:sp>
      <p:sp>
        <p:nvSpPr>
          <p:cNvPr id="18" name="Rounded Rectangle 17 [s7]"/>
          <p:cNvSpPr/>
          <p:nvPr/>
        </p:nvSpPr>
        <p:spPr>
          <a:xfrm>
            <a:off x="2194560" y="365760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 [s7]"/>
          <p:cNvSpPr txBox="1"/>
          <p:nvPr/>
        </p:nvSpPr>
        <p:spPr>
          <a:xfrm>
            <a:off x="2194560" y="36576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070D1A"/>
                </a:solidFill>
                <a:latin typeface="Calibri"/>
              </a:rPr>
              <a:t>Product</a:t>
            </a:r>
            <a:r>
              <a:rPr sz="1200" b="0" i="0">
                <a:solidFill>
                  <a:srgbClr val="070D1A"/>
                </a:solidFill>
                <a:latin typeface="Calibri"/>
              </a:rPr>
              <a:t>  (abstract)</a:t>
            </a:r>
          </a:p>
        </p:txBody>
      </p:sp>
      <p:cxnSp>
        <p:nvCxnSpPr>
          <p:cNvPr id="20" name="Connector 19 [s7]"/>
          <p:cNvCxnSpPr/>
          <p:nvPr/>
        </p:nvCxnSpPr>
        <p:spPr>
          <a:xfrm flipH="1">
            <a:off x="1229868" y="4206240"/>
            <a:ext cx="2290571" cy="502920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 [s7]"/>
          <p:cNvSpPr/>
          <p:nvPr/>
        </p:nvSpPr>
        <p:spPr>
          <a:xfrm>
            <a:off x="544068" y="4709160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13243F"/>
          </a:solidFill>
          <a:ln w="12700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 [s7]"/>
          <p:cNvSpPr txBox="1"/>
          <p:nvPr/>
        </p:nvSpPr>
        <p:spPr>
          <a:xfrm>
            <a:off x="544068" y="4709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0" i="0">
                <a:solidFill>
                  <a:srgbClr val="F1F5F9"/>
                </a:solidFill>
                <a:latin typeface="Consolas"/>
              </a:rPr>
              <a:t>Electronics</a:t>
            </a:r>
          </a:p>
        </p:txBody>
      </p:sp>
      <p:cxnSp>
        <p:nvCxnSpPr>
          <p:cNvPr id="23" name="Connector 22 [s7]"/>
          <p:cNvCxnSpPr/>
          <p:nvPr/>
        </p:nvCxnSpPr>
        <p:spPr>
          <a:xfrm flipH="1">
            <a:off x="2756916" y="4206240"/>
            <a:ext cx="763523" cy="502920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 [s7]"/>
          <p:cNvSpPr/>
          <p:nvPr/>
        </p:nvSpPr>
        <p:spPr>
          <a:xfrm>
            <a:off x="2071116" y="4709160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13243F"/>
          </a:solidFill>
          <a:ln w="12700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 [s7]"/>
          <p:cNvSpPr txBox="1"/>
          <p:nvPr/>
        </p:nvSpPr>
        <p:spPr>
          <a:xfrm>
            <a:off x="2071116" y="4709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0" i="0">
                <a:solidFill>
                  <a:srgbClr val="F1F5F9"/>
                </a:solidFill>
                <a:latin typeface="Consolas"/>
              </a:rPr>
              <a:t>Clothing</a:t>
            </a:r>
          </a:p>
        </p:txBody>
      </p:sp>
      <p:cxnSp>
        <p:nvCxnSpPr>
          <p:cNvPr id="26" name="Connector 25 [s7]"/>
          <p:cNvCxnSpPr/>
          <p:nvPr/>
        </p:nvCxnSpPr>
        <p:spPr>
          <a:xfrm>
            <a:off x="3520439" y="4206240"/>
            <a:ext cx="763525" cy="502920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 [s7]"/>
          <p:cNvSpPr/>
          <p:nvPr/>
        </p:nvSpPr>
        <p:spPr>
          <a:xfrm>
            <a:off x="3598164" y="4709160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13243F"/>
          </a:solidFill>
          <a:ln w="12700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 [s7]"/>
          <p:cNvSpPr txBox="1"/>
          <p:nvPr/>
        </p:nvSpPr>
        <p:spPr>
          <a:xfrm>
            <a:off x="3598164" y="4709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0" i="0">
                <a:solidFill>
                  <a:srgbClr val="F1F5F9"/>
                </a:solidFill>
                <a:latin typeface="Consolas"/>
              </a:rPr>
              <a:t>Book</a:t>
            </a:r>
          </a:p>
        </p:txBody>
      </p:sp>
      <p:cxnSp>
        <p:nvCxnSpPr>
          <p:cNvPr id="29" name="Connector 28 [s7]"/>
          <p:cNvCxnSpPr/>
          <p:nvPr/>
        </p:nvCxnSpPr>
        <p:spPr>
          <a:xfrm>
            <a:off x="3520439" y="4206240"/>
            <a:ext cx="2290573" cy="502920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 [s7]"/>
          <p:cNvSpPr/>
          <p:nvPr/>
        </p:nvSpPr>
        <p:spPr>
          <a:xfrm>
            <a:off x="5125212" y="4709160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13243F"/>
          </a:solidFill>
          <a:ln w="12700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 [s7]"/>
          <p:cNvSpPr txBox="1"/>
          <p:nvPr/>
        </p:nvSpPr>
        <p:spPr>
          <a:xfrm>
            <a:off x="5125212" y="4709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0" i="0">
                <a:solidFill>
                  <a:srgbClr val="F1F5F9"/>
                </a:solidFill>
                <a:latin typeface="Consolas"/>
              </a:rPr>
              <a:t>Grocery</a:t>
            </a:r>
          </a:p>
        </p:txBody>
      </p:sp>
      <p:sp>
        <p:nvSpPr>
          <p:cNvPr id="32" name="Rounded Rectangle 31 [s7]"/>
          <p:cNvSpPr/>
          <p:nvPr/>
        </p:nvSpPr>
        <p:spPr>
          <a:xfrm>
            <a:off x="6812280" y="1645920"/>
            <a:ext cx="3611880" cy="978408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 [s7]"/>
          <p:cNvSpPr txBox="1"/>
          <p:nvPr/>
        </p:nvSpPr>
        <p:spPr>
          <a:xfrm>
            <a:off x="7040880" y="1737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Encapsulation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Fields are private; changed only through methods like confirm(), add(), applyCoupon()</a:t>
            </a:r>
          </a:p>
        </p:txBody>
      </p:sp>
      <p:sp>
        <p:nvSpPr>
          <p:cNvPr id="34" name="Rounded Rectangle 33 [s7]"/>
          <p:cNvSpPr/>
          <p:nvPr/>
        </p:nvSpPr>
        <p:spPr>
          <a:xfrm>
            <a:off x="6812280" y="2761488"/>
            <a:ext cx="3611880" cy="978408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 [s7]"/>
          <p:cNvSpPr txBox="1"/>
          <p:nvPr/>
        </p:nvSpPr>
        <p:spPr>
          <a:xfrm>
            <a:off x="7040880" y="285292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Inheritance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3 ticket classes extend Ticket, 4 product classes extend Product, FlatButton extends JButton</a:t>
            </a:r>
          </a:p>
        </p:txBody>
      </p:sp>
      <p:sp>
        <p:nvSpPr>
          <p:cNvPr id="36" name="Rounded Rectangle 35 [s7]"/>
          <p:cNvSpPr/>
          <p:nvPr/>
        </p:nvSpPr>
        <p:spPr>
          <a:xfrm>
            <a:off x="6812280" y="3877056"/>
            <a:ext cx="3611880" cy="978408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 [s7]"/>
          <p:cNvSpPr txBox="1"/>
          <p:nvPr/>
        </p:nvSpPr>
        <p:spPr>
          <a:xfrm>
            <a:off x="7040880" y="3968496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Abstraction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Abstract getRatePerKm() and getTaxPercent() force each subclass to define its own rule</a:t>
            </a:r>
          </a:p>
        </p:txBody>
      </p:sp>
      <p:sp>
        <p:nvSpPr>
          <p:cNvPr id="38" name="Rounded Rectangle 37 [s7]"/>
          <p:cNvSpPr/>
          <p:nvPr/>
        </p:nvSpPr>
        <p:spPr>
          <a:xfrm>
            <a:off x="6812280" y="4992624"/>
            <a:ext cx="3611880" cy="978408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 [s7]"/>
          <p:cNvSpPr txBox="1"/>
          <p:nvPr/>
        </p:nvSpPr>
        <p:spPr>
          <a:xfrm>
            <a:off x="7040880" y="5084064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Polymorphism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One call, ticket.getTotalFare(), gives the right fare for SL, 3A or 2A</a:t>
            </a:r>
          </a:p>
        </p:txBody>
      </p:sp>
      <p:sp>
        <p:nvSpPr>
          <p:cNvPr id="40" name="TextBox 39 [s7]"/>
          <p:cNvSpPr txBox="1"/>
          <p:nvPr/>
        </p:nvSpPr>
        <p:spPr>
          <a:xfrm>
            <a:off x="548640" y="56692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4D399"/>
                </a:solidFill>
                <a:latin typeface="Consolas"/>
              </a:rPr>
              <a:t>double fare = ticket.getTotalFare();</a:t>
            </a:r>
            <a:r>
              <a:rPr sz="1400" b="0" i="0">
                <a:solidFill>
                  <a:srgbClr val="64748B"/>
                </a:solidFill>
                <a:latin typeface="Consolas"/>
              </a:rPr>
              <a:t>  // any class</a:t>
            </a:r>
          </a:p>
        </p:txBody>
      </p:sp>
      <p:pic>
        <p:nvPicPr>
          <p:cNvPr id="41" name="Corner cart [s7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42" name="Corner train [s7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43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07 / 17</a:t>
            </a:r>
          </a:p>
        </p:txBody>
      </p:sp>
      <p:pic>
        <p:nvPicPr>
          <p:cNvPr id="44" name="Previous slide" descr="slide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5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46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8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8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07  ·  EVENT HANDLING</a:t>
            </a:r>
          </a:p>
        </p:txBody>
      </p:sp>
      <p:sp>
        <p:nvSpPr>
          <p:cNvPr id="4" name="Title [s8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The delegation event model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8]"/>
          <p:cNvSpPr/>
          <p:nvPr/>
        </p:nvSpPr>
        <p:spPr>
          <a:xfrm>
            <a:off x="548640" y="169164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8]"/>
          <p:cNvSpPr txBox="1"/>
          <p:nvPr/>
        </p:nvSpPr>
        <p:spPr>
          <a:xfrm>
            <a:off x="685800" y="1783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22D3EE"/>
                </a:solidFill>
                <a:latin typeface="Consolas"/>
              </a:rPr>
              <a:t>1</a:t>
            </a:r>
          </a:p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User acts</a:t>
            </a:r>
          </a:p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clicks, types, selects</a:t>
            </a:r>
          </a:p>
        </p:txBody>
      </p:sp>
      <p:sp>
        <p:nvSpPr>
          <p:cNvPr id="9" name="Right Arrow 8 [s8]"/>
          <p:cNvSpPr/>
          <p:nvPr/>
        </p:nvSpPr>
        <p:spPr>
          <a:xfrm>
            <a:off x="2313432" y="2176272"/>
            <a:ext cx="219456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 [s8]"/>
          <p:cNvSpPr/>
          <p:nvPr/>
        </p:nvSpPr>
        <p:spPr>
          <a:xfrm>
            <a:off x="2560320" y="169164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22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 [s8]"/>
          <p:cNvSpPr txBox="1"/>
          <p:nvPr/>
        </p:nvSpPr>
        <p:spPr>
          <a:xfrm>
            <a:off x="2697480" y="1783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22D3EE"/>
                </a:solidFill>
                <a:latin typeface="Consolas"/>
              </a:rPr>
              <a:t>2</a:t>
            </a:r>
          </a:p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Event source</a:t>
            </a:r>
          </a:p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JButton, JComboBox, JCheckBox</a:t>
            </a:r>
          </a:p>
        </p:txBody>
      </p:sp>
      <p:sp>
        <p:nvSpPr>
          <p:cNvPr id="12" name="Right Arrow 11 [s8]"/>
          <p:cNvSpPr/>
          <p:nvPr/>
        </p:nvSpPr>
        <p:spPr>
          <a:xfrm>
            <a:off x="4325112" y="2176272"/>
            <a:ext cx="219456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 [s8]"/>
          <p:cNvSpPr/>
          <p:nvPr/>
        </p:nvSpPr>
        <p:spPr>
          <a:xfrm>
            <a:off x="4572000" y="169164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8]"/>
          <p:cNvSpPr txBox="1"/>
          <p:nvPr/>
        </p:nvSpPr>
        <p:spPr>
          <a:xfrm>
            <a:off x="4709160" y="1783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22D3EE"/>
                </a:solidFill>
                <a:latin typeface="Consolas"/>
              </a:rPr>
              <a:t>3</a:t>
            </a:r>
          </a:p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Event object</a:t>
            </a:r>
          </a:p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ActionEvent, ItemEvent, MouseEvent</a:t>
            </a:r>
          </a:p>
        </p:txBody>
      </p:sp>
      <p:sp>
        <p:nvSpPr>
          <p:cNvPr id="15" name="Right Arrow 14 [s8]"/>
          <p:cNvSpPr/>
          <p:nvPr/>
        </p:nvSpPr>
        <p:spPr>
          <a:xfrm>
            <a:off x="6336792" y="2176272"/>
            <a:ext cx="219456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 [s8]"/>
          <p:cNvSpPr/>
          <p:nvPr/>
        </p:nvSpPr>
        <p:spPr>
          <a:xfrm>
            <a:off x="6583680" y="169164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22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 [s8]"/>
          <p:cNvSpPr txBox="1"/>
          <p:nvPr/>
        </p:nvSpPr>
        <p:spPr>
          <a:xfrm>
            <a:off x="6720840" y="1783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22D3EE"/>
                </a:solidFill>
                <a:latin typeface="Consolas"/>
              </a:rPr>
              <a:t>4</a:t>
            </a:r>
          </a:p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Listener runs</a:t>
            </a:r>
          </a:p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actionPerformed(), itemStateChanged()</a:t>
            </a:r>
          </a:p>
        </p:txBody>
      </p:sp>
      <p:sp>
        <p:nvSpPr>
          <p:cNvPr id="18" name="Right Arrow 17 [s8]"/>
          <p:cNvSpPr/>
          <p:nvPr/>
        </p:nvSpPr>
        <p:spPr>
          <a:xfrm>
            <a:off x="8348472" y="2176272"/>
            <a:ext cx="219456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 [s8]"/>
          <p:cNvSpPr/>
          <p:nvPr/>
        </p:nvSpPr>
        <p:spPr>
          <a:xfrm>
            <a:off x="8595360" y="169164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 [s8]"/>
          <p:cNvSpPr txBox="1"/>
          <p:nvPr/>
        </p:nvSpPr>
        <p:spPr>
          <a:xfrm>
            <a:off x="8732520" y="1783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22D3EE"/>
                </a:solidFill>
                <a:latin typeface="Consolas"/>
              </a:rPr>
              <a:t>5</a:t>
            </a:r>
          </a:p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Screen updates</a:t>
            </a:r>
          </a:p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model changes, GUI refreshes</a:t>
            </a:r>
          </a:p>
        </p:txBody>
      </p:sp>
      <p:sp>
        <p:nvSpPr>
          <p:cNvPr id="21" name="Rounded Rectangle 20 [s8]"/>
          <p:cNvSpPr/>
          <p:nvPr/>
        </p:nvSpPr>
        <p:spPr>
          <a:xfrm>
            <a:off x="548640" y="32461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 [s8]"/>
          <p:cNvSpPr txBox="1"/>
          <p:nvPr/>
        </p:nvSpPr>
        <p:spPr>
          <a:xfrm>
            <a:off x="731520" y="3383279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ActionListener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Buttons, menu items, Enter key</a:t>
            </a:r>
          </a:p>
        </p:txBody>
      </p:sp>
      <p:sp>
        <p:nvSpPr>
          <p:cNvPr id="23" name="Rounded Rectangle 22 [s8]"/>
          <p:cNvSpPr/>
          <p:nvPr/>
        </p:nvSpPr>
        <p:spPr>
          <a:xfrm>
            <a:off x="3044952" y="32461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 [s8]"/>
          <p:cNvSpPr txBox="1"/>
          <p:nvPr/>
        </p:nvSpPr>
        <p:spPr>
          <a:xfrm>
            <a:off x="3227832" y="3383279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ItemListener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Combo boxes, check boxes, radio buttons, chips</a:t>
            </a:r>
          </a:p>
        </p:txBody>
      </p:sp>
      <p:sp>
        <p:nvSpPr>
          <p:cNvPr id="25" name="Rounded Rectangle 24 [s8]"/>
          <p:cNvSpPr/>
          <p:nvPr/>
        </p:nvSpPr>
        <p:spPr>
          <a:xfrm>
            <a:off x="5541264" y="32461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 [s8]"/>
          <p:cNvSpPr txBox="1"/>
          <p:nvPr/>
        </p:nvSpPr>
        <p:spPr>
          <a:xfrm>
            <a:off x="5724144" y="3383279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MouseAdapter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Card hover, picture click, double-click a booking</a:t>
            </a:r>
          </a:p>
        </p:txBody>
      </p:sp>
      <p:sp>
        <p:nvSpPr>
          <p:cNvPr id="27" name="Rounded Rectangle 26 [s8]"/>
          <p:cNvSpPr/>
          <p:nvPr/>
        </p:nvSpPr>
        <p:spPr>
          <a:xfrm>
            <a:off x="8037575" y="32461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 [s8]"/>
          <p:cNvSpPr txBox="1"/>
          <p:nvPr/>
        </p:nvSpPr>
        <p:spPr>
          <a:xfrm>
            <a:off x="8220455" y="3383279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KeyAdapter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Digits-only fields, live search while typing</a:t>
            </a:r>
          </a:p>
        </p:txBody>
      </p:sp>
      <p:sp>
        <p:nvSpPr>
          <p:cNvPr id="29" name="Rounded Rectangle 28 [s8]"/>
          <p:cNvSpPr/>
          <p:nvPr/>
        </p:nvSpPr>
        <p:spPr>
          <a:xfrm>
            <a:off x="548640" y="46177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 [s8]"/>
          <p:cNvSpPr txBox="1"/>
          <p:nvPr/>
        </p:nvSpPr>
        <p:spPr>
          <a:xfrm>
            <a:off x="731520" y="475488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FocusAdapter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Re-check seats when leaving the date field</a:t>
            </a:r>
          </a:p>
        </p:txBody>
      </p:sp>
      <p:sp>
        <p:nvSpPr>
          <p:cNvPr id="31" name="Rounded Rectangle 30 [s8]"/>
          <p:cNvSpPr/>
          <p:nvPr/>
        </p:nvSpPr>
        <p:spPr>
          <a:xfrm>
            <a:off x="3044952" y="46177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 [s8]"/>
          <p:cNvSpPr txBox="1"/>
          <p:nvPr/>
        </p:nvSpPr>
        <p:spPr>
          <a:xfrm>
            <a:off x="3227832" y="475488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WindowAdapter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Ask before exiting the application</a:t>
            </a:r>
          </a:p>
        </p:txBody>
      </p:sp>
      <p:sp>
        <p:nvSpPr>
          <p:cNvPr id="33" name="Rounded Rectangle 32 [s8]"/>
          <p:cNvSpPr/>
          <p:nvPr/>
        </p:nvSpPr>
        <p:spPr>
          <a:xfrm>
            <a:off x="5541264" y="46177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 [s8]"/>
          <p:cNvSpPr txBox="1"/>
          <p:nvPr/>
        </p:nvSpPr>
        <p:spPr>
          <a:xfrm>
            <a:off x="5724144" y="475488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Swing Timer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Live clock, toast messages, payment animation</a:t>
            </a:r>
          </a:p>
        </p:txBody>
      </p:sp>
      <p:sp>
        <p:nvSpPr>
          <p:cNvPr id="35" name="Rounded Rectangle 34 [s8]"/>
          <p:cNvSpPr/>
          <p:nvPr/>
        </p:nvSpPr>
        <p:spPr>
          <a:xfrm>
            <a:off x="8037575" y="46177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 [s8]"/>
          <p:cNvSpPr txBox="1"/>
          <p:nvPr/>
        </p:nvSpPr>
        <p:spPr>
          <a:xfrm>
            <a:off x="8220455" y="475488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Custom events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alibri"/>
              </a:rPr>
              <a:t>ProductCard and CartRow send ActionEvents to the window</a:t>
            </a:r>
          </a:p>
        </p:txBody>
      </p:sp>
      <p:pic>
        <p:nvPicPr>
          <p:cNvPr id="37" name="Corner cart [s8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38" name="Corner train [s8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39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08 / 17</a:t>
            </a:r>
          </a:p>
        </p:txBody>
      </p:sp>
      <p:pic>
        <p:nvPicPr>
          <p:cNvPr id="40" name="Previous slide" descr="slide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1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42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9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9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08  ·  MODULE 1  ·  HD RAIL</a:t>
            </a:r>
          </a:p>
        </p:txBody>
      </p:sp>
      <p:sp>
        <p:nvSpPr>
          <p:cNvPr id="4" name="Title [s9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Railway Reservation Form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TextBox 6 [s9]"/>
          <p:cNvSpPr txBox="1"/>
          <p:nvPr/>
        </p:nvSpPr>
        <p:spPr>
          <a:xfrm>
            <a:off x="548640" y="1691640"/>
            <a:ext cx="3429000" cy="448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1200"/>
              </a:spcAft>
              <a:buClr>
                <a:srgbClr val="38BDF8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16 trains between 6 cities</a:t>
            </a:r>
          </a:p>
          <a:p>
            <a:pPr algn="l" marL="256032" indent="-256032">
              <a:spcAft>
                <a:spcPts val="1200"/>
              </a:spcAft>
              <a:buClr>
                <a:srgbClr val="38BDF8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Sleeper, AC 3 Tier, AC 2 Tier</a:t>
            </a:r>
          </a:p>
          <a:p>
            <a:pPr algn="l" marL="256032" indent="-256032">
              <a:spcAft>
                <a:spcPts val="1200"/>
              </a:spcAft>
              <a:buClr>
                <a:srgbClr val="38BDF8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Fare breakup with concession and GST</a:t>
            </a:r>
          </a:p>
          <a:p>
            <a:pPr algn="l" marL="256032" indent="-256032">
              <a:spcAft>
                <a:spcPts val="1200"/>
              </a:spcAft>
              <a:buClr>
                <a:srgbClr val="38BDF8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Berth by preference; seniors get a lower berth</a:t>
            </a:r>
          </a:p>
          <a:p>
            <a:pPr algn="l" marL="256032" indent="-256032">
              <a:spcAft>
                <a:spcPts val="1200"/>
              </a:spcAft>
              <a:buClr>
                <a:srgbClr val="38BDF8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Waiting list (WL) with auto-confirm</a:t>
            </a:r>
          </a:p>
          <a:p>
            <a:pPr algn="l" marL="256032" indent="-256032">
              <a:spcAft>
                <a:spcPts val="1200"/>
              </a:spcAft>
              <a:buClr>
                <a:srgbClr val="38BDF8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Cancel by PNR with refund</a:t>
            </a:r>
          </a:p>
          <a:p>
            <a:pPr algn="l" marL="256032" indent="-256032">
              <a:spcAft>
                <a:spcPts val="1200"/>
              </a:spcAft>
              <a:buClr>
                <a:srgbClr val="38BDF8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Colour-coded bookings table</a:t>
            </a:r>
          </a:p>
        </p:txBody>
      </p:sp>
      <p:sp>
        <p:nvSpPr>
          <p:cNvPr id="8" name="Rounded Rectangle 7 [s9]"/>
          <p:cNvSpPr/>
          <p:nvPr/>
        </p:nvSpPr>
        <p:spPr>
          <a:xfrm>
            <a:off x="4197096" y="1591056"/>
            <a:ext cx="6281928" cy="4260000"/>
          </a:xfrm>
          <a:prstGeom prst="roundRect">
            <a:avLst>
              <a:gd name="adj" fmla="val 2000"/>
            </a:avLst>
          </a:prstGeom>
          <a:solidFill>
            <a:srgbClr val="0B1526"/>
          </a:solidFill>
          <a:ln w="1587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 [s9]" descr="15-railway-after-can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45920"/>
            <a:ext cx="6172200" cy="4150272"/>
          </a:xfrm>
          <a:prstGeom prst="rect">
            <a:avLst/>
          </a:prstGeom>
        </p:spPr>
      </p:pic>
      <p:pic>
        <p:nvPicPr>
          <p:cNvPr id="10" name="Corner cart [s9]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11" name="Corner train [s9]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12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09 / 17</a:t>
            </a:r>
          </a:p>
        </p:txBody>
      </p:sp>
      <p:pic>
        <p:nvPicPr>
          <p:cNvPr id="13" name="Previous slide" descr="slide-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4" name="Big cart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15" name="Big train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0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10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09  ·  HD RAIL  ·  LOGIC</a:t>
            </a:r>
          </a:p>
        </p:txBody>
      </p:sp>
      <p:sp>
        <p:nvSpPr>
          <p:cNvPr id="4" name="Title [s10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Fare engine and booking lifecycle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10]"/>
          <p:cNvSpPr/>
          <p:nvPr/>
        </p:nvSpPr>
        <p:spPr>
          <a:xfrm>
            <a:off x="548640" y="1645920"/>
            <a:ext cx="5120640" cy="132588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10]"/>
          <p:cNvSpPr txBox="1"/>
          <p:nvPr/>
        </p:nvSpPr>
        <p:spPr>
          <a:xfrm>
            <a:off x="777240" y="1755648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8BDF8"/>
                </a:solidFill>
                <a:latin typeface="Consolas"/>
              </a:rPr>
              <a:t>FARE FORMULA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1F5F9"/>
                </a:solidFill>
                <a:latin typeface="Consolas"/>
              </a:rPr>
              <a:t>Total = Base − Concession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1F5F9"/>
                </a:solidFill>
                <a:latin typeface="Consolas"/>
              </a:rPr>
              <a:t>        + Reservation + GST + Add-ons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Base = km × rate   ·   Senior 60+: 40% off   ·   Child 5-11: 50% off</a:t>
            </a:r>
          </a:p>
        </p:txBody>
      </p:sp>
      <p:graphicFrame>
        <p:nvGraphicFramePr>
          <p:cNvPr id="9" name="Table 8 [s10]"/>
          <p:cNvGraphicFramePr>
            <a:graphicFrameLocks noGrp="1"/>
          </p:cNvGraphicFramePr>
          <p:nvPr/>
        </p:nvGraphicFramePr>
        <p:xfrm>
          <a:off x="548640" y="3154680"/>
          <a:ext cx="5120640" cy="1600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868680"/>
                <a:gridCol w="1188720"/>
                <a:gridCol w="685800"/>
                <a:gridCol w="1051560"/>
              </a:tblGrid>
              <a:tr h="4000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8BDF8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anchor="ctr"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8BDF8"/>
                          </a:solidFill>
                          <a:latin typeface="Consolas"/>
                        </a:rPr>
                        <a:t>Rate/km</a:t>
                      </a:r>
                    </a:p>
                  </a:txBody>
                  <a:tcPr marL="73152" marR="73152" anchor="ctr"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8BDF8"/>
                          </a:solidFill>
                          <a:latin typeface="Consolas"/>
                        </a:rPr>
                        <a:t>Reservation</a:t>
                      </a:r>
                    </a:p>
                  </a:txBody>
                  <a:tcPr marL="73152" marR="73152" anchor="ctr"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8BDF8"/>
                          </a:solidFill>
                          <a:latin typeface="Consolas"/>
                        </a:rPr>
                        <a:t>GST</a:t>
                      </a:r>
                    </a:p>
                  </a:txBody>
                  <a:tcPr marL="73152" marR="73152" anchor="ctr"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8BDF8"/>
                          </a:solidFill>
                          <a:latin typeface="Consolas"/>
                        </a:rPr>
                        <a:t>Cancel fee</a:t>
                      </a:r>
                    </a:p>
                  </a:txBody>
                  <a:tcPr marL="73152" marR="73152" anchor="ctr">
                    <a:solidFill>
                      <a:srgbClr val="13243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SL  Sleeper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0.60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3A  AC 3 Tier</a:t>
                      </a:r>
                    </a:p>
                  </a:txBody>
                  <a:tcPr marL="73152" marR="73152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1.50</a:t>
                      </a:r>
                    </a:p>
                  </a:txBody>
                  <a:tcPr marL="73152" marR="73152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40</a:t>
                      </a:r>
                    </a:p>
                  </a:txBody>
                  <a:tcPr marL="73152" marR="73152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5%</a:t>
                      </a:r>
                    </a:p>
                  </a:txBody>
                  <a:tcPr marL="73152" marR="73152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 marL="73152" marR="73152" anchor="ctr">
                    <a:solidFill>
                      <a:srgbClr val="0B162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2A  AC 2 Tier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2.20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50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5%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73152" marR="73152" anchor="ctr">
                    <a:solidFill>
                      <a:srgbClr val="0F1D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 [s10]"/>
          <p:cNvSpPr txBox="1"/>
          <p:nvPr/>
        </p:nvSpPr>
        <p:spPr>
          <a:xfrm>
            <a:off x="548640" y="498348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8BDF8"/>
                </a:solidFill>
                <a:latin typeface="Consolas"/>
              </a:rPr>
              <a:t>EXAMPLE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Chennai → Bengaluru, 362 km, AC 3 Tier, adult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1F5F9"/>
                </a:solidFill>
                <a:latin typeface="Consolas"/>
              </a:rPr>
              <a:t>543.00 + 40.00 + 27.15 GST = </a:t>
            </a:r>
            <a:r>
              <a:rPr sz="1700" b="1" i="0">
                <a:solidFill>
                  <a:srgbClr val="34D399"/>
                </a:solidFill>
                <a:latin typeface="Calibri"/>
              </a:rPr>
              <a:t>Rs 610.15</a:t>
            </a:r>
          </a:p>
        </p:txBody>
      </p:sp>
      <p:sp>
        <p:nvSpPr>
          <p:cNvPr id="11" name="Rounded Rectangle 10 [s10]"/>
          <p:cNvSpPr/>
          <p:nvPr/>
        </p:nvSpPr>
        <p:spPr>
          <a:xfrm>
            <a:off x="6172200" y="1645920"/>
            <a:ext cx="4251960" cy="86868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 [s10]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 [s10]"/>
          <p:cNvSpPr txBox="1"/>
          <p:nvPr/>
        </p:nvSpPr>
        <p:spPr>
          <a:xfrm>
            <a:off x="635508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070D1A"/>
                </a:solidFill>
                <a:latin typeface="Calibri"/>
              </a:rPr>
              <a:t>1</a:t>
            </a:r>
          </a:p>
        </p:txBody>
      </p:sp>
      <p:sp>
        <p:nvSpPr>
          <p:cNvPr id="14" name="TextBox 13 [s10]"/>
          <p:cNvSpPr txBox="1"/>
          <p:nvPr/>
        </p:nvSpPr>
        <p:spPr>
          <a:xfrm>
            <a:off x="7086600" y="17373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Book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PNR generated</a:t>
            </a:r>
          </a:p>
        </p:txBody>
      </p:sp>
      <p:sp>
        <p:nvSpPr>
          <p:cNvPr id="15" name="Down Arrow 14 [s10]"/>
          <p:cNvSpPr/>
          <p:nvPr/>
        </p:nvSpPr>
        <p:spPr>
          <a:xfrm>
            <a:off x="8183879" y="2532888"/>
            <a:ext cx="228600" cy="237744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 [s10]"/>
          <p:cNvSpPr/>
          <p:nvPr/>
        </p:nvSpPr>
        <p:spPr>
          <a:xfrm>
            <a:off x="6172200" y="2788920"/>
            <a:ext cx="4251960" cy="86868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22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 [s10]"/>
          <p:cNvSpPr/>
          <p:nvPr/>
        </p:nvSpPr>
        <p:spPr>
          <a:xfrm>
            <a:off x="6355080" y="29718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 [s10]"/>
          <p:cNvSpPr txBox="1"/>
          <p:nvPr/>
        </p:nvSpPr>
        <p:spPr>
          <a:xfrm>
            <a:off x="6355080" y="2971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070D1A"/>
                </a:solidFill>
                <a:latin typeface="Calibri"/>
              </a:rPr>
              <a:t>2</a:t>
            </a:r>
          </a:p>
        </p:txBody>
      </p:sp>
      <p:sp>
        <p:nvSpPr>
          <p:cNvPr id="19" name="TextBox 18 [s10]"/>
          <p:cNvSpPr txBox="1"/>
          <p:nvPr/>
        </p:nvSpPr>
        <p:spPr>
          <a:xfrm>
            <a:off x="7086600" y="28803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Seat free?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Yes: CNF + berth  ·  No: WL 1..5</a:t>
            </a:r>
          </a:p>
        </p:txBody>
      </p:sp>
      <p:sp>
        <p:nvSpPr>
          <p:cNvPr id="20" name="Down Arrow 19 [s10]"/>
          <p:cNvSpPr/>
          <p:nvPr/>
        </p:nvSpPr>
        <p:spPr>
          <a:xfrm>
            <a:off x="8183879" y="3675887"/>
            <a:ext cx="228600" cy="23774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 [s10]"/>
          <p:cNvSpPr/>
          <p:nvPr/>
        </p:nvSpPr>
        <p:spPr>
          <a:xfrm>
            <a:off x="6172200" y="3931920"/>
            <a:ext cx="4251960" cy="86868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F871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 [s10]"/>
          <p:cNvSpPr/>
          <p:nvPr/>
        </p:nvSpPr>
        <p:spPr>
          <a:xfrm>
            <a:off x="6355080" y="411480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 [s10]"/>
          <p:cNvSpPr txBox="1"/>
          <p:nvPr/>
        </p:nvSpPr>
        <p:spPr>
          <a:xfrm>
            <a:off x="6355080" y="4114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070D1A"/>
                </a:solidFill>
                <a:latin typeface="Calibri"/>
              </a:rPr>
              <a:t>3</a:t>
            </a:r>
          </a:p>
        </p:txBody>
      </p:sp>
      <p:sp>
        <p:nvSpPr>
          <p:cNvPr id="24" name="TextBox 23 [s10]"/>
          <p:cNvSpPr txBox="1"/>
          <p:nvPr/>
        </p:nvSpPr>
        <p:spPr>
          <a:xfrm>
            <a:off x="7086600" y="4023359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Cancel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Refund = fare − cancel fee</a:t>
            </a:r>
          </a:p>
        </p:txBody>
      </p:sp>
      <p:sp>
        <p:nvSpPr>
          <p:cNvPr id="25" name="Down Arrow 24 [s10]"/>
          <p:cNvSpPr/>
          <p:nvPr/>
        </p:nvSpPr>
        <p:spPr>
          <a:xfrm>
            <a:off x="8183879" y="4818888"/>
            <a:ext cx="228600" cy="237744"/>
          </a:xfrm>
          <a:prstGeom prst="downArrow">
            <a:avLst/>
          </a:prstGeom>
          <a:solidFill>
            <a:srgbClr val="F8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 [s10]"/>
          <p:cNvSpPr/>
          <p:nvPr/>
        </p:nvSpPr>
        <p:spPr>
          <a:xfrm>
            <a:off x="6172200" y="5074920"/>
            <a:ext cx="4251960" cy="86868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 [s10]"/>
          <p:cNvSpPr/>
          <p:nvPr/>
        </p:nvSpPr>
        <p:spPr>
          <a:xfrm>
            <a:off x="6355080" y="525780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 [s10]"/>
          <p:cNvSpPr txBox="1"/>
          <p:nvPr/>
        </p:nvSpPr>
        <p:spPr>
          <a:xfrm>
            <a:off x="6355080" y="5257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070D1A"/>
                </a:solidFill>
                <a:latin typeface="Calibri"/>
              </a:rPr>
              <a:t>4</a:t>
            </a:r>
          </a:p>
        </p:txBody>
      </p:sp>
      <p:sp>
        <p:nvSpPr>
          <p:cNvPr id="29" name="TextBox 28 [s10]"/>
          <p:cNvSpPr txBox="1"/>
          <p:nvPr/>
        </p:nvSpPr>
        <p:spPr>
          <a:xfrm>
            <a:off x="7086600" y="5166359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Auto-confirm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WL 1 gets the freed berth</a:t>
            </a:r>
          </a:p>
        </p:txBody>
      </p:sp>
      <p:pic>
        <p:nvPicPr>
          <p:cNvPr id="30" name="Corner cart [s10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31" name="Corner train [s10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32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10 / 17</a:t>
            </a:r>
          </a:p>
        </p:txBody>
      </p:sp>
      <p:pic>
        <p:nvPicPr>
          <p:cNvPr id="33" name="Previous slide" descr="slide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4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35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1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11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10  ·  MODULE 2  ·  HD CART</a:t>
            </a:r>
          </a:p>
        </p:txBody>
      </p:sp>
      <p:sp>
        <p:nvSpPr>
          <p:cNvPr id="4" name="Title [s11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Online Shopping Cart Simulation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11]"/>
          <p:cNvSpPr/>
          <p:nvPr/>
        </p:nvSpPr>
        <p:spPr>
          <a:xfrm>
            <a:off x="548640" y="1591056"/>
            <a:ext cx="6419088" cy="3968407"/>
          </a:xfrm>
          <a:prstGeom prst="roundRect">
            <a:avLst>
              <a:gd name="adj" fmla="val 2000"/>
            </a:avLst>
          </a:prstGeom>
          <a:solidFill>
            <a:srgbClr val="0B1526"/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 [s11]" descr="21-shop-cart-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645920"/>
            <a:ext cx="6309360" cy="3858679"/>
          </a:xfrm>
          <a:prstGeom prst="rect">
            <a:avLst/>
          </a:prstGeom>
        </p:spPr>
      </p:pic>
      <p:sp>
        <p:nvSpPr>
          <p:cNvPr id="9" name="TextBox 8 [s11]"/>
          <p:cNvSpPr txBox="1"/>
          <p:nvPr/>
        </p:nvSpPr>
        <p:spPr>
          <a:xfrm>
            <a:off x="7223760" y="1691640"/>
            <a:ext cx="3246120" cy="448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1200"/>
              </a:spcAft>
              <a:buClr>
                <a:srgbClr val="FB923C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13 products, 4 categories, drawn pictures</a:t>
            </a:r>
          </a:p>
          <a:p>
            <a:pPr algn="l" marL="256032" indent="-256032">
              <a:spcAft>
                <a:spcPts val="1200"/>
              </a:spcAft>
              <a:buClr>
                <a:srgbClr val="FB923C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Ratings, MRP and % off on every card</a:t>
            </a:r>
          </a:p>
          <a:p>
            <a:pPr algn="l" marL="256032" indent="-256032">
              <a:spcAft>
                <a:spcPts val="1200"/>
              </a:spcAft>
              <a:buClr>
                <a:srgbClr val="FB923C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Category chips, live search, 5 sort options</a:t>
            </a:r>
          </a:p>
          <a:p>
            <a:pPr algn="l" marL="256032" indent="-256032">
              <a:spcAft>
                <a:spcPts val="1200"/>
              </a:spcAft>
              <a:buClr>
                <a:srgbClr val="FB923C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Cart with - / + steppers and stock limits</a:t>
            </a:r>
          </a:p>
          <a:p>
            <a:pPr algn="l" marL="256032" indent="-256032">
              <a:spcAft>
                <a:spcPts val="1200"/>
              </a:spcAft>
              <a:buClr>
                <a:srgbClr val="FB923C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Coupons SAVE10, FLAT200, FEST20</a:t>
            </a:r>
          </a:p>
          <a:p>
            <a:pPr algn="l" marL="256032" indent="-256032">
              <a:spcAft>
                <a:spcPts val="1200"/>
              </a:spcAft>
              <a:buClr>
                <a:srgbClr val="FB923C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Gift wrap; UPI, Card or COD</a:t>
            </a:r>
          </a:p>
          <a:p>
            <a:pPr algn="l" marL="256032" indent="-256032">
              <a:spcAft>
                <a:spcPts val="1200"/>
              </a:spcAft>
              <a:buClr>
                <a:srgbClr val="FB923C"/>
              </a:buClr>
              <a:buFont typeface="Arial"/>
              <a:buChar char="■"/>
            </a:pPr>
            <a:r>
              <a:rPr sz="1500" b="0" i="0">
                <a:solidFill>
                  <a:srgbClr val="F1F5F9"/>
                </a:solidFill>
                <a:latin typeface="Calibri"/>
              </a:rPr>
              <a:t>Free delivery above Rs 999</a:t>
            </a:r>
          </a:p>
        </p:txBody>
      </p:sp>
      <p:pic>
        <p:nvPicPr>
          <p:cNvPr id="10" name="Corner cart [s11]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11" name="Corner train [s11]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12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11 / 17</a:t>
            </a:r>
          </a:p>
        </p:txBody>
      </p:sp>
      <p:pic>
        <p:nvPicPr>
          <p:cNvPr id="13" name="Previous slide" descr="slide-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4" name="Big cart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15" name="Big train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2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12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11  ·  HD CART  ·  CHECKOUT</a:t>
            </a:r>
          </a:p>
        </p:txBody>
      </p:sp>
      <p:sp>
        <p:nvSpPr>
          <p:cNvPr id="4" name="Title [s12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From cart to confirmed order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TextBox 6 [s12]"/>
          <p:cNvSpPr txBox="1"/>
          <p:nvPr/>
        </p:nvSpPr>
        <p:spPr>
          <a:xfrm>
            <a:off x="603504" y="1645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B923C"/>
                </a:solidFill>
                <a:latin typeface="Consolas"/>
              </a:rPr>
              <a:t>1  DELIVERY DETAILS</a:t>
            </a:r>
          </a:p>
        </p:txBody>
      </p:sp>
      <p:sp>
        <p:nvSpPr>
          <p:cNvPr id="8" name="Rounded Rectangle 7 [s12]"/>
          <p:cNvSpPr/>
          <p:nvPr/>
        </p:nvSpPr>
        <p:spPr>
          <a:xfrm>
            <a:off x="548640" y="2002536"/>
            <a:ext cx="3127248" cy="2192560"/>
          </a:xfrm>
          <a:prstGeom prst="roundRect">
            <a:avLst>
              <a:gd name="adj" fmla="val 2000"/>
            </a:avLst>
          </a:prstGeom>
          <a:solidFill>
            <a:srgbClr val="0B1526"/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 [s12]" descr="25-shop-checkout-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057400"/>
            <a:ext cx="3017520" cy="2082832"/>
          </a:xfrm>
          <a:prstGeom prst="rect">
            <a:avLst/>
          </a:prstGeom>
        </p:spPr>
      </p:pic>
      <p:sp>
        <p:nvSpPr>
          <p:cNvPr id="10" name="Right Arrow 9 [s12]"/>
          <p:cNvSpPr/>
          <p:nvPr/>
        </p:nvSpPr>
        <p:spPr>
          <a:xfrm>
            <a:off x="3694176" y="3017520"/>
            <a:ext cx="219456" cy="292608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 [s12]"/>
          <p:cNvSpPr txBox="1"/>
          <p:nvPr/>
        </p:nvSpPr>
        <p:spPr>
          <a:xfrm>
            <a:off x="3986784" y="1645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B923C"/>
                </a:solidFill>
                <a:latin typeface="Consolas"/>
              </a:rPr>
              <a:t>2  PAYMENT</a:t>
            </a:r>
          </a:p>
        </p:txBody>
      </p:sp>
      <p:sp>
        <p:nvSpPr>
          <p:cNvPr id="12" name="Rounded Rectangle 11 [s12]"/>
          <p:cNvSpPr/>
          <p:nvPr/>
        </p:nvSpPr>
        <p:spPr>
          <a:xfrm>
            <a:off x="3931920" y="2002536"/>
            <a:ext cx="3127248" cy="2192560"/>
          </a:xfrm>
          <a:prstGeom prst="roundRect">
            <a:avLst>
              <a:gd name="adj" fmla="val 2000"/>
            </a:avLst>
          </a:prstGeom>
          <a:solidFill>
            <a:srgbClr val="0B1526"/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 [s12]" descr="27-shop-payment-proce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784" y="2057400"/>
            <a:ext cx="3017520" cy="2082832"/>
          </a:xfrm>
          <a:prstGeom prst="rect">
            <a:avLst/>
          </a:prstGeom>
        </p:spPr>
      </p:pic>
      <p:sp>
        <p:nvSpPr>
          <p:cNvPr id="14" name="Right Arrow 13 [s12]"/>
          <p:cNvSpPr/>
          <p:nvPr/>
        </p:nvSpPr>
        <p:spPr>
          <a:xfrm>
            <a:off x="7077456" y="3017520"/>
            <a:ext cx="219456" cy="292608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 [s12]"/>
          <p:cNvSpPr txBox="1"/>
          <p:nvPr/>
        </p:nvSpPr>
        <p:spPr>
          <a:xfrm>
            <a:off x="7370064" y="1645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B923C"/>
                </a:solidFill>
                <a:latin typeface="Consolas"/>
              </a:rPr>
              <a:t>3  ORDER CONFIRMED</a:t>
            </a:r>
          </a:p>
        </p:txBody>
      </p:sp>
      <p:sp>
        <p:nvSpPr>
          <p:cNvPr id="16" name="Rounded Rectangle 15 [s12]"/>
          <p:cNvSpPr/>
          <p:nvPr/>
        </p:nvSpPr>
        <p:spPr>
          <a:xfrm>
            <a:off x="7315200" y="2002536"/>
            <a:ext cx="3127248" cy="2192560"/>
          </a:xfrm>
          <a:prstGeom prst="roundRect">
            <a:avLst>
              <a:gd name="adj" fmla="val 2000"/>
            </a:avLst>
          </a:prstGeom>
          <a:solidFill>
            <a:srgbClr val="0B1526"/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 [s12]" descr="28-shop-order-confir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2057400"/>
            <a:ext cx="3017520" cy="2082832"/>
          </a:xfrm>
          <a:prstGeom prst="rect">
            <a:avLst/>
          </a:prstGeom>
        </p:spPr>
      </p:pic>
      <p:sp>
        <p:nvSpPr>
          <p:cNvPr id="18" name="Rounded Rectangle 17 [s12]"/>
          <p:cNvSpPr/>
          <p:nvPr/>
        </p:nvSpPr>
        <p:spPr>
          <a:xfrm>
            <a:off x="548640" y="4754880"/>
            <a:ext cx="9875520" cy="137160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 [s12]"/>
          <p:cNvSpPr txBox="1"/>
          <p:nvPr/>
        </p:nvSpPr>
        <p:spPr>
          <a:xfrm>
            <a:off x="822960" y="4873752"/>
            <a:ext cx="94183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B923C"/>
                </a:solidFill>
                <a:latin typeface="Consolas"/>
              </a:rPr>
              <a:t>PRICE CALCULATION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1F5F9"/>
                </a:solidFill>
                <a:latin typeface="Consolas"/>
              </a:rPr>
              <a:t>Grand Total = Subtotal + Tax − Coupon + Delivery + Gift wrap / COD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Example:  5,244.00 + 606.99 − 1,000.00 + 0 + 90.00 = </a:t>
            </a:r>
            <a:r>
              <a:rPr sz="1700" b="1" i="0">
                <a:solidFill>
                  <a:srgbClr val="34D399"/>
                </a:solidFill>
                <a:latin typeface="Calibri"/>
              </a:rPr>
              <a:t>Rs 4,940.99</a:t>
            </a:r>
          </a:p>
        </p:txBody>
      </p:sp>
      <p:pic>
        <p:nvPicPr>
          <p:cNvPr id="20" name="Corner cart [s12]" descr="cart-orange-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21" name="Corner train [s12]" descr="train-cyan-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22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12 / 17</a:t>
            </a:r>
          </a:p>
        </p:txBody>
      </p:sp>
      <p:pic>
        <p:nvPicPr>
          <p:cNvPr id="23" name="Previous slide" descr="slide-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4" name="Big cart" descr="cart-orange-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25" name="Big train" descr="train-cyan-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3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13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12  ·  VALIDATION &amp; EXCEPTIONS</a:t>
            </a:r>
          </a:p>
        </p:txBody>
      </p:sp>
      <p:sp>
        <p:nvSpPr>
          <p:cNvPr id="4" name="Title [s13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Every input is checked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13]"/>
          <p:cNvSpPr/>
          <p:nvPr/>
        </p:nvSpPr>
        <p:spPr>
          <a:xfrm>
            <a:off x="548640" y="164592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13]"/>
          <p:cNvSpPr txBox="1"/>
          <p:nvPr/>
        </p:nvSpPr>
        <p:spPr>
          <a:xfrm>
            <a:off x="777240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22D3EE"/>
                </a:solidFill>
                <a:latin typeface="Consolas"/>
              </a:rPr>
              <a:t>Name</a:t>
            </a:r>
          </a:p>
        </p:txBody>
      </p:sp>
      <p:sp>
        <p:nvSpPr>
          <p:cNvPr id="9" name="TextBox 8 [s13]"/>
          <p:cNvSpPr txBox="1"/>
          <p:nvPr/>
        </p:nvSpPr>
        <p:spPr>
          <a:xfrm>
            <a:off x="2286000" y="16459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Letters and spaces, 2-40 characters</a:t>
            </a:r>
          </a:p>
        </p:txBody>
      </p:sp>
      <p:sp>
        <p:nvSpPr>
          <p:cNvPr id="10" name="Rounded Rectangle 9 [s13]"/>
          <p:cNvSpPr/>
          <p:nvPr/>
        </p:nvSpPr>
        <p:spPr>
          <a:xfrm>
            <a:off x="548640" y="228600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 [s13]"/>
          <p:cNvSpPr txBox="1"/>
          <p:nvPr/>
        </p:nvSpPr>
        <p:spPr>
          <a:xfrm>
            <a:off x="777240" y="22860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22D3EE"/>
                </a:solidFill>
                <a:latin typeface="Consolas"/>
              </a:rPr>
              <a:t>Age</a:t>
            </a:r>
          </a:p>
        </p:txBody>
      </p:sp>
      <p:sp>
        <p:nvSpPr>
          <p:cNvPr id="12" name="TextBox 11 [s13]"/>
          <p:cNvSpPr txBox="1"/>
          <p:nvPr/>
        </p:nvSpPr>
        <p:spPr>
          <a:xfrm>
            <a:off x="2286000" y="2286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Whole number; under 5 travel free</a:t>
            </a:r>
          </a:p>
        </p:txBody>
      </p:sp>
      <p:sp>
        <p:nvSpPr>
          <p:cNvPr id="13" name="Rounded Rectangle 12 [s13]"/>
          <p:cNvSpPr/>
          <p:nvPr/>
        </p:nvSpPr>
        <p:spPr>
          <a:xfrm>
            <a:off x="548640" y="292608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13]"/>
          <p:cNvSpPr txBox="1"/>
          <p:nvPr/>
        </p:nvSpPr>
        <p:spPr>
          <a:xfrm>
            <a:off x="777240" y="29260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22D3EE"/>
                </a:solidFill>
                <a:latin typeface="Consolas"/>
              </a:rPr>
              <a:t>Mobile</a:t>
            </a:r>
          </a:p>
        </p:txBody>
      </p:sp>
      <p:sp>
        <p:nvSpPr>
          <p:cNvPr id="15" name="TextBox 14 [s13]"/>
          <p:cNvSpPr txBox="1"/>
          <p:nvPr/>
        </p:nvSpPr>
        <p:spPr>
          <a:xfrm>
            <a:off x="2286000" y="2926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10 digits starting with 6, 7, 8 or 9</a:t>
            </a:r>
          </a:p>
        </p:txBody>
      </p:sp>
      <p:sp>
        <p:nvSpPr>
          <p:cNvPr id="16" name="Rounded Rectangle 15 [s13]"/>
          <p:cNvSpPr/>
          <p:nvPr/>
        </p:nvSpPr>
        <p:spPr>
          <a:xfrm>
            <a:off x="548640" y="3566159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 [s13]"/>
          <p:cNvSpPr txBox="1"/>
          <p:nvPr/>
        </p:nvSpPr>
        <p:spPr>
          <a:xfrm>
            <a:off x="777240" y="3566159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22D3EE"/>
                </a:solidFill>
                <a:latin typeface="Consolas"/>
              </a:rPr>
              <a:t>Journey date</a:t>
            </a:r>
          </a:p>
        </p:txBody>
      </p:sp>
      <p:sp>
        <p:nvSpPr>
          <p:cNvPr id="18" name="TextBox 17 [s13]"/>
          <p:cNvSpPr txBox="1"/>
          <p:nvPr/>
        </p:nvSpPr>
        <p:spPr>
          <a:xfrm>
            <a:off x="2286000" y="356615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dd-MM-yyyy, today to 120 days ahead</a:t>
            </a:r>
          </a:p>
        </p:txBody>
      </p:sp>
      <p:sp>
        <p:nvSpPr>
          <p:cNvPr id="19" name="Rounded Rectangle 18 [s13]"/>
          <p:cNvSpPr/>
          <p:nvPr/>
        </p:nvSpPr>
        <p:spPr>
          <a:xfrm>
            <a:off x="548640" y="420624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 [s13]"/>
          <p:cNvSpPr txBox="1"/>
          <p:nvPr/>
        </p:nvSpPr>
        <p:spPr>
          <a:xfrm>
            <a:off x="777240" y="42062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22D3EE"/>
                </a:solidFill>
                <a:latin typeface="Consolas"/>
              </a:rPr>
              <a:t>PIN code</a:t>
            </a:r>
          </a:p>
        </p:txBody>
      </p:sp>
      <p:sp>
        <p:nvSpPr>
          <p:cNvPr id="21" name="TextBox 20 [s13]"/>
          <p:cNvSpPr txBox="1"/>
          <p:nvPr/>
        </p:nvSpPr>
        <p:spPr>
          <a:xfrm>
            <a:off x="2286000" y="4206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6 digits, cannot start with 0</a:t>
            </a:r>
          </a:p>
        </p:txBody>
      </p:sp>
      <p:sp>
        <p:nvSpPr>
          <p:cNvPr id="22" name="Rounded Rectangle 21 [s13]"/>
          <p:cNvSpPr/>
          <p:nvPr/>
        </p:nvSpPr>
        <p:spPr>
          <a:xfrm>
            <a:off x="548640" y="484632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 [s13]"/>
          <p:cNvSpPr txBox="1"/>
          <p:nvPr/>
        </p:nvSpPr>
        <p:spPr>
          <a:xfrm>
            <a:off x="777240" y="48463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22D3EE"/>
                </a:solidFill>
                <a:latin typeface="Consolas"/>
              </a:rPr>
              <a:t>Quantity</a:t>
            </a:r>
          </a:p>
        </p:txBody>
      </p:sp>
      <p:sp>
        <p:nvSpPr>
          <p:cNvPr id="24" name="TextBox 23 [s13]"/>
          <p:cNvSpPr txBox="1"/>
          <p:nvPr/>
        </p:nvSpPr>
        <p:spPr>
          <a:xfrm>
            <a:off x="2286000" y="48463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Never more than the stock left</a:t>
            </a:r>
          </a:p>
        </p:txBody>
      </p:sp>
      <p:sp>
        <p:nvSpPr>
          <p:cNvPr id="25" name="Rounded Rectangle 24 [s13]"/>
          <p:cNvSpPr/>
          <p:nvPr/>
        </p:nvSpPr>
        <p:spPr>
          <a:xfrm>
            <a:off x="548640" y="5486399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 [s13]"/>
          <p:cNvSpPr txBox="1"/>
          <p:nvPr/>
        </p:nvSpPr>
        <p:spPr>
          <a:xfrm>
            <a:off x="777240" y="5486399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22D3EE"/>
                </a:solidFill>
                <a:latin typeface="Consolas"/>
              </a:rPr>
              <a:t>Coupon</a:t>
            </a:r>
          </a:p>
        </p:txBody>
      </p:sp>
      <p:sp>
        <p:nvSpPr>
          <p:cNvPr id="27" name="TextBox 26 [s13]"/>
          <p:cNvSpPr txBox="1"/>
          <p:nvPr/>
        </p:nvSpPr>
        <p:spPr>
          <a:xfrm>
            <a:off x="2286000" y="548639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Must exist and meet its minimum order</a:t>
            </a:r>
          </a:p>
        </p:txBody>
      </p:sp>
      <p:sp>
        <p:nvSpPr>
          <p:cNvPr id="28" name="Rounded Rectangle 27 [s13]"/>
          <p:cNvSpPr/>
          <p:nvPr/>
        </p:nvSpPr>
        <p:spPr>
          <a:xfrm>
            <a:off x="6117336" y="1636776"/>
            <a:ext cx="4315968" cy="1022571"/>
          </a:xfrm>
          <a:prstGeom prst="roundRect">
            <a:avLst>
              <a:gd name="adj" fmla="val 2000"/>
            </a:avLst>
          </a:prstGeom>
          <a:solidFill>
            <a:srgbClr val="0B1526"/>
          </a:solidFill>
          <a:ln w="15875">
            <a:solidFill>
              <a:srgbClr val="F8717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 [s13]" descr="04-error-invalid-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91640"/>
            <a:ext cx="4206240" cy="912843"/>
          </a:xfrm>
          <a:prstGeom prst="rect">
            <a:avLst/>
          </a:prstGeom>
        </p:spPr>
      </p:pic>
      <p:sp>
        <p:nvSpPr>
          <p:cNvPr id="30" name="Rounded Rectangle 29 [s13]"/>
          <p:cNvSpPr/>
          <p:nvPr/>
        </p:nvSpPr>
        <p:spPr>
          <a:xfrm>
            <a:off x="6117336" y="2971800"/>
            <a:ext cx="4315968" cy="1600200"/>
          </a:xfrm>
          <a:prstGeom prst="roundRect">
            <a:avLst>
              <a:gd name="adj" fmla="val 4000"/>
            </a:avLst>
          </a:prstGeom>
          <a:solidFill>
            <a:srgbClr val="0B1526"/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 [s13]"/>
          <p:cNvSpPr txBox="1"/>
          <p:nvPr/>
        </p:nvSpPr>
        <p:spPr>
          <a:xfrm>
            <a:off x="6309360" y="3090672"/>
            <a:ext cx="402336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C084FC"/>
                </a:solidFill>
                <a:latin typeface="Consolas"/>
              </a:rPr>
              <a:t>try {</a:t>
            </a:r>
          </a:p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    value = Integer.parseInt(text);</a:t>
            </a:r>
          </a:p>
          <a:p>
            <a:pPr algn="l"/>
            <a:r>
              <a:rPr sz="1200" b="0" i="0">
                <a:solidFill>
                  <a:srgbClr val="C084FC"/>
                </a:solidFill>
                <a:latin typeface="Consolas"/>
              </a:rPr>
              <a:t>} catch (NumberFormatException e) {</a:t>
            </a:r>
          </a:p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    throw new ValidationException(</a:t>
            </a:r>
          </a:p>
          <a:p>
            <a:pPr algn="l"/>
            <a:r>
              <a:rPr sz="1200" b="0" i="0">
                <a:solidFill>
                  <a:srgbClr val="FCD34D"/>
                </a:solidFill>
                <a:latin typeface="Consolas"/>
              </a:rPr>
              <a:t>        field + " must be a whole number");</a:t>
            </a:r>
          </a:p>
          <a:p>
            <a:pPr algn="l"/>
            <a:r>
              <a:rPr sz="1200" b="0" i="0">
                <a:solidFill>
                  <a:srgbClr val="C084FC"/>
                </a:solidFill>
                <a:latin typeface="Consolas"/>
              </a:rPr>
              <a:t>}</a:t>
            </a:r>
          </a:p>
        </p:txBody>
      </p:sp>
      <p:sp>
        <p:nvSpPr>
          <p:cNvPr id="32" name="TextBox 31 [s13]"/>
          <p:cNvSpPr txBox="1"/>
          <p:nvPr/>
        </p:nvSpPr>
        <p:spPr>
          <a:xfrm>
            <a:off x="6172200" y="4800600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 custom checked ValidationException carries a clear message to an error dialog, or to a red inline note at checkout.</a:t>
            </a:r>
          </a:p>
        </p:txBody>
      </p:sp>
      <p:pic>
        <p:nvPicPr>
          <p:cNvPr id="33" name="Corner cart [s13]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34" name="Corner train [s13]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35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13 / 17</a:t>
            </a:r>
          </a:p>
        </p:txBody>
      </p:sp>
      <p:pic>
        <p:nvPicPr>
          <p:cNvPr id="36" name="Previous slide" descr="slide-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7" name="Big cart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38" name="Big train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4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14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13  ·  TESTING &amp; RESULTS</a:t>
            </a:r>
          </a:p>
        </p:txBody>
      </p:sp>
      <p:sp>
        <p:nvSpPr>
          <p:cNvPr id="4" name="Title [s14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Tested end to end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14]"/>
          <p:cNvSpPr/>
          <p:nvPr/>
        </p:nvSpPr>
        <p:spPr>
          <a:xfrm>
            <a:off x="548640" y="164592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14]"/>
          <p:cNvSpPr txBox="1"/>
          <p:nvPr/>
        </p:nvSpPr>
        <p:spPr>
          <a:xfrm>
            <a:off x="548640" y="16916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 i="0">
                <a:solidFill>
                  <a:srgbClr val="34D399"/>
                </a:solidFill>
                <a:latin typeface="Calibri"/>
              </a:rPr>
              <a:t>98</a:t>
            </a:r>
          </a:p>
        </p:txBody>
      </p:sp>
      <p:sp>
        <p:nvSpPr>
          <p:cNvPr id="9" name="TextBox 8 [s14]"/>
          <p:cNvSpPr txBox="1"/>
          <p:nvPr/>
        </p:nvSpPr>
        <p:spPr>
          <a:xfrm>
            <a:off x="685800" y="25146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logic checks passed</a:t>
            </a:r>
          </a:p>
        </p:txBody>
      </p:sp>
      <p:sp>
        <p:nvSpPr>
          <p:cNvPr id="10" name="Rounded Rectangle 9 [s14]"/>
          <p:cNvSpPr/>
          <p:nvPr/>
        </p:nvSpPr>
        <p:spPr>
          <a:xfrm>
            <a:off x="3044952" y="164592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22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 [s14]"/>
          <p:cNvSpPr txBox="1"/>
          <p:nvPr/>
        </p:nvSpPr>
        <p:spPr>
          <a:xfrm>
            <a:off x="3044952" y="16916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 i="0">
                <a:solidFill>
                  <a:srgbClr val="22D3EE"/>
                </a:solidFill>
                <a:latin typeface="Calibri"/>
              </a:rPr>
              <a:t>31</a:t>
            </a:r>
          </a:p>
        </p:txBody>
      </p:sp>
      <p:sp>
        <p:nvSpPr>
          <p:cNvPr id="12" name="TextBox 11 [s14]"/>
          <p:cNvSpPr txBox="1"/>
          <p:nvPr/>
        </p:nvSpPr>
        <p:spPr>
          <a:xfrm>
            <a:off x="3182112" y="25146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screens driven by an automated GUI test</a:t>
            </a:r>
          </a:p>
        </p:txBody>
      </p:sp>
      <p:sp>
        <p:nvSpPr>
          <p:cNvPr id="13" name="Rounded Rectangle 12 [s14]"/>
          <p:cNvSpPr/>
          <p:nvPr/>
        </p:nvSpPr>
        <p:spPr>
          <a:xfrm>
            <a:off x="5541264" y="164592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 [s14]"/>
          <p:cNvSpPr txBox="1"/>
          <p:nvPr/>
        </p:nvSpPr>
        <p:spPr>
          <a:xfrm>
            <a:off x="5541264" y="16916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 i="0">
                <a:solidFill>
                  <a:srgbClr val="FB923C"/>
                </a:solidFill>
                <a:latin typeface="Calibri"/>
              </a:rPr>
              <a:t>3</a:t>
            </a:r>
          </a:p>
        </p:txBody>
      </p:sp>
      <p:sp>
        <p:nvSpPr>
          <p:cNvPr id="15" name="TextBox 14 [s14]"/>
          <p:cNvSpPr txBox="1"/>
          <p:nvPr/>
        </p:nvSpPr>
        <p:spPr>
          <a:xfrm>
            <a:off x="5678424" y="25146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bugs found and fixed</a:t>
            </a:r>
          </a:p>
        </p:txBody>
      </p:sp>
      <p:sp>
        <p:nvSpPr>
          <p:cNvPr id="16" name="Rounded Rectangle 15 [s14]"/>
          <p:cNvSpPr/>
          <p:nvPr/>
        </p:nvSpPr>
        <p:spPr>
          <a:xfrm>
            <a:off x="8037575" y="164592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 [s14]"/>
          <p:cNvSpPr txBox="1"/>
          <p:nvPr/>
        </p:nvSpPr>
        <p:spPr>
          <a:xfrm>
            <a:off x="8037575" y="16916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 i="0">
                <a:solidFill>
                  <a:srgbClr val="34D399"/>
                </a:solidFill>
                <a:latin typeface="Calibri"/>
              </a:rPr>
              <a:t>0</a:t>
            </a:r>
          </a:p>
        </p:txBody>
      </p:sp>
      <p:sp>
        <p:nvSpPr>
          <p:cNvPr id="18" name="TextBox 17 [s14]"/>
          <p:cNvSpPr txBox="1"/>
          <p:nvPr/>
        </p:nvSpPr>
        <p:spPr>
          <a:xfrm>
            <a:off x="8174736" y="25146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failures in the final run</a:t>
            </a:r>
          </a:p>
        </p:txBody>
      </p:sp>
      <p:graphicFrame>
        <p:nvGraphicFramePr>
          <p:cNvPr id="19" name="Table 18 [s14]"/>
          <p:cNvGraphicFramePr>
            <a:graphicFrameLocks noGrp="1"/>
          </p:cNvGraphicFramePr>
          <p:nvPr/>
        </p:nvGraphicFramePr>
        <p:xfrm>
          <a:off x="548640" y="3337560"/>
          <a:ext cx="9875520" cy="28346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0"/>
                <a:gridCol w="4663440"/>
                <a:gridCol w="1554480"/>
              </a:tblGrid>
              <a:tr h="3543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</a:rPr>
                        <a:t>Test case</a:t>
                      </a:r>
                    </a:p>
                  </a:txBody>
                  <a:tcPr marL="137160" anchor="ctr"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137160" anchor="ctr"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137160" anchor="ctr">
                    <a:solidFill>
                      <a:srgbClr val="13243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Book with empty name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Error dialog, no booking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Journey date 31-02-2027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"not a valid date" message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5th booking in full AC 2 Tier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Ticket goes to WL 1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Cancel a confirmed ticket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Refund shown; WL 1 confirmed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4 almonds when 3 in stock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Stock limit error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FEST20 on a Rs 5,244 cart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Discount capped at Rs 1,000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37160" anchor="ctr">
                    <a:solidFill>
                      <a:srgbClr val="0B162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Mobile 98765 at checkout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1F5F9"/>
                          </a:solidFill>
                          <a:latin typeface="Calibri"/>
                        </a:rPr>
                        <a:t>Red inline error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37160" anchor="ctr">
                    <a:solidFill>
                      <a:srgbClr val="0F1D33"/>
                    </a:solidFill>
                  </a:tcPr>
                </a:tc>
              </a:tr>
            </a:tbl>
          </a:graphicData>
        </a:graphic>
      </p:graphicFrame>
      <p:pic>
        <p:nvPicPr>
          <p:cNvPr id="20" name="Corner cart [s14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21" name="Corner train [s14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22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14 / 17</a:t>
            </a:r>
          </a:p>
        </p:txBody>
      </p:sp>
      <p:pic>
        <p:nvPicPr>
          <p:cNvPr id="23" name="Previous slide" descr="slide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4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25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5]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15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14  ·  CONCLUSION &amp; FUTURE SCOPE</a:t>
            </a:r>
          </a:p>
        </p:txBody>
      </p:sp>
      <p:sp>
        <p:nvSpPr>
          <p:cNvPr id="4" name="Title [s15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What we achieved, and what's next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15]"/>
          <p:cNvSpPr/>
          <p:nvPr/>
        </p:nvSpPr>
        <p:spPr>
          <a:xfrm>
            <a:off x="548640" y="1645920"/>
            <a:ext cx="4846320" cy="448056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34D3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 [s15]"/>
          <p:cNvSpPr txBox="1"/>
          <p:nvPr/>
        </p:nvSpPr>
        <p:spPr>
          <a:xfrm>
            <a:off x="822960" y="1874519"/>
            <a:ext cx="434340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6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</a:rPr>
              <a:t>CONCLUSION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HD Suite meets every requirement of the experiment: a well laid-out Swing GUI, OOP design, delegation event handling, input validation with exceptions, and a working build.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Building two real-world simulations taught us how GUI, rules and data fit together - and why testing matters.</a:t>
            </a:r>
          </a:p>
        </p:txBody>
      </p:sp>
      <p:sp>
        <p:nvSpPr>
          <p:cNvPr id="9" name="Rounded Rectangle 8 [s15]"/>
          <p:cNvSpPr/>
          <p:nvPr/>
        </p:nvSpPr>
        <p:spPr>
          <a:xfrm>
            <a:off x="5760720" y="164592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 [s15]"/>
          <p:cNvSpPr txBox="1"/>
          <p:nvPr/>
        </p:nvSpPr>
        <p:spPr>
          <a:xfrm>
            <a:off x="5943600" y="16459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1" name="TextBox 10 [s15]"/>
          <p:cNvSpPr txBox="1"/>
          <p:nvPr/>
        </p:nvSpPr>
        <p:spPr>
          <a:xfrm>
            <a:off x="6583680" y="1700784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Database storage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Save bookings and orders with JDBC + MySQL</a:t>
            </a:r>
          </a:p>
        </p:txBody>
      </p:sp>
      <p:sp>
        <p:nvSpPr>
          <p:cNvPr id="12" name="Rounded Rectangle 11 [s15]"/>
          <p:cNvSpPr/>
          <p:nvPr/>
        </p:nvSpPr>
        <p:spPr>
          <a:xfrm>
            <a:off x="5760720" y="256032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 [s15]"/>
          <p:cNvSpPr txBox="1"/>
          <p:nvPr/>
        </p:nvSpPr>
        <p:spPr>
          <a:xfrm>
            <a:off x="5943600" y="25603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 i="0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14" name="TextBox 13 [s15]"/>
          <p:cNvSpPr txBox="1"/>
          <p:nvPr/>
        </p:nvSpPr>
        <p:spPr>
          <a:xfrm>
            <a:off x="6583680" y="2615184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User accounts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Login with booking and order history</a:t>
            </a:r>
          </a:p>
        </p:txBody>
      </p:sp>
      <p:sp>
        <p:nvSpPr>
          <p:cNvPr id="15" name="Rounded Rectangle 14 [s15]"/>
          <p:cNvSpPr/>
          <p:nvPr/>
        </p:nvSpPr>
        <p:spPr>
          <a:xfrm>
            <a:off x="5760720" y="347472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 [s15]"/>
          <p:cNvSpPr txBox="1"/>
          <p:nvPr/>
        </p:nvSpPr>
        <p:spPr>
          <a:xfrm>
            <a:off x="5943600" y="34747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 i="0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17" name="TextBox 16 [s15]"/>
          <p:cNvSpPr txBox="1"/>
          <p:nvPr/>
        </p:nvSpPr>
        <p:spPr>
          <a:xfrm>
            <a:off x="6583680" y="3529584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PDF export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Download e-tickets and invoices</a:t>
            </a:r>
          </a:p>
        </p:txBody>
      </p:sp>
      <p:sp>
        <p:nvSpPr>
          <p:cNvPr id="18" name="Rounded Rectangle 17 [s15]"/>
          <p:cNvSpPr/>
          <p:nvPr/>
        </p:nvSpPr>
        <p:spPr>
          <a:xfrm>
            <a:off x="5760720" y="438912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 [s15]"/>
          <p:cNvSpPr txBox="1"/>
          <p:nvPr/>
        </p:nvSpPr>
        <p:spPr>
          <a:xfrm>
            <a:off x="5943600" y="43891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 i="0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20" name="TextBox 19 [s15]"/>
          <p:cNvSpPr txBox="1"/>
          <p:nvPr/>
        </p:nvSpPr>
        <p:spPr>
          <a:xfrm>
            <a:off x="6583680" y="4443983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Seat map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Pick a berth on a visual coach layout</a:t>
            </a:r>
          </a:p>
        </p:txBody>
      </p:sp>
      <p:sp>
        <p:nvSpPr>
          <p:cNvPr id="21" name="Rounded Rectangle 20 [s15]"/>
          <p:cNvSpPr/>
          <p:nvPr/>
        </p:nvSpPr>
        <p:spPr>
          <a:xfrm>
            <a:off x="5760720" y="530352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0F1D33">
              <a:alpha val="85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 [s15]"/>
          <p:cNvSpPr txBox="1"/>
          <p:nvPr/>
        </p:nvSpPr>
        <p:spPr>
          <a:xfrm>
            <a:off x="5943600" y="53035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 i="0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23" name="TextBox 22 [s15]"/>
          <p:cNvSpPr txBox="1"/>
          <p:nvPr/>
        </p:nvSpPr>
        <p:spPr>
          <a:xfrm>
            <a:off x="6583680" y="5358383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Payment gateway</a:t>
            </a:r>
          </a:p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Connect a real gateway in sandbox mode</a:t>
            </a:r>
          </a:p>
        </p:txBody>
      </p:sp>
      <p:pic>
        <p:nvPicPr>
          <p:cNvPr id="24" name="Corner cart [s15]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25" name="Corner train [s15]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26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15 / 17</a:t>
            </a:r>
          </a:p>
        </p:txBody>
      </p:sp>
      <p:pic>
        <p:nvPicPr>
          <p:cNvPr id="27" name="Previous slide" descr="slide-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8" name="Big cart" descr="cart-orang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29" name="Big train" descr="train-cya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6]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ag [s16]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// 15  ·  TRY IT LIVE</a:t>
            </a:r>
          </a:p>
        </p:txBody>
      </p:sp>
      <p:sp>
        <p:nvSpPr>
          <p:cNvPr id="4" name="Title [s16]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F1F5F9"/>
                </a:solidFill>
                <a:latin typeface="Calibri"/>
              </a:rPr>
              <a:t>Scan and use both apps on your phone</a:t>
            </a:r>
          </a:p>
        </p:txBody>
      </p:sp>
      <p:sp>
        <p:nvSpPr>
          <p:cNvPr id="5" name="!!LogoTile"/>
          <p:cNvSpPr/>
          <p:nvPr/>
        </p:nvSpPr>
        <p:spPr>
          <a:xfrm>
            <a:off x="11109960" y="292608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944" y="352592"/>
            <a:ext cx="629838" cy="629838"/>
          </a:xfrm>
          <a:prstGeom prst="rect">
            <a:avLst/>
          </a:prstGeom>
        </p:spPr>
      </p:pic>
      <p:sp>
        <p:nvSpPr>
          <p:cNvPr id="7" name="Rounded Rectangle 6 [s16]"/>
          <p:cNvSpPr/>
          <p:nvPr/>
        </p:nvSpPr>
        <p:spPr>
          <a:xfrm>
            <a:off x="548640" y="1600200"/>
            <a:ext cx="3749039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QR code - HD Suite site [s16]" descr="qr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37360"/>
            <a:ext cx="3474720" cy="3474720"/>
          </a:xfrm>
          <a:prstGeom prst="rect">
            <a:avLst/>
          </a:prstGeom>
        </p:spPr>
      </p:pic>
      <p:sp>
        <p:nvSpPr>
          <p:cNvPr id="9" name="TextBox 8 [s16]"/>
          <p:cNvSpPr txBox="1"/>
          <p:nvPr/>
        </p:nvSpPr>
        <p:spPr>
          <a:xfrm>
            <a:off x="548640" y="5468112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F1F5F9"/>
                </a:solidFill>
                <a:latin typeface="Calibri"/>
              </a:rPr>
              <a:t>Scan with your phone camera</a:t>
            </a:r>
          </a:p>
          <a:p>
            <a:pPr algn="ctr"/>
            <a:r>
              <a:rPr sz="1200" b="0" i="0">
                <a:solidFill>
                  <a:srgbClr val="22D3EE"/>
                </a:solidFill>
                <a:latin typeface="Calibri"/>
              </a:rPr>
              <a:t>Opens both apps - nothing to install</a:t>
            </a:r>
          </a:p>
        </p:txBody>
      </p:sp>
      <p:sp>
        <p:nvSpPr>
          <p:cNvPr id="10" name="Rounded Rectangle 9 [s16]"/>
          <p:cNvSpPr/>
          <p:nvPr/>
        </p:nvSpPr>
        <p:spPr>
          <a:xfrm>
            <a:off x="4754880" y="160020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 [s16]"/>
          <p:cNvSpPr/>
          <p:nvPr/>
        </p:nvSpPr>
        <p:spPr>
          <a:xfrm>
            <a:off x="4892040" y="1737360"/>
            <a:ext cx="1143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 [s16]" descr="qr-r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83080"/>
            <a:ext cx="1051560" cy="1051560"/>
          </a:xfrm>
          <a:prstGeom prst="rect">
            <a:avLst/>
          </a:prstGeom>
        </p:spPr>
      </p:pic>
      <p:pic>
        <p:nvPicPr>
          <p:cNvPr id="13" name="Picture 12 [s16]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874519"/>
            <a:ext cx="831272" cy="457200"/>
          </a:xfrm>
          <a:prstGeom prst="rect">
            <a:avLst/>
          </a:prstGeom>
        </p:spPr>
      </p:pic>
      <p:sp>
        <p:nvSpPr>
          <p:cNvPr id="14" name="TextBox 13 [s16]"/>
          <p:cNvSpPr txBox="1"/>
          <p:nvPr/>
        </p:nvSpPr>
        <p:spPr>
          <a:xfrm>
            <a:off x="6263640" y="23774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Book, check fare, cancel by PNR</a:t>
            </a:r>
          </a:p>
        </p:txBody>
      </p:sp>
      <p:sp>
        <p:nvSpPr>
          <p:cNvPr id="15" name="TextBox 14 [s16]"/>
          <p:cNvSpPr txBox="1"/>
          <p:nvPr/>
        </p:nvSpPr>
        <p:spPr>
          <a:xfrm>
            <a:off x="7452360" y="18562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38BDF8"/>
                </a:solidFill>
                <a:latin typeface="Calibri"/>
              </a:rPr>
              <a:t>HD Rail</a:t>
            </a:r>
          </a:p>
        </p:txBody>
      </p:sp>
      <p:sp>
        <p:nvSpPr>
          <p:cNvPr id="16" name="Rounded Rectangle 15 [s16]"/>
          <p:cNvSpPr/>
          <p:nvPr/>
        </p:nvSpPr>
        <p:spPr>
          <a:xfrm>
            <a:off x="4754880" y="320040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 [s16]"/>
          <p:cNvSpPr/>
          <p:nvPr/>
        </p:nvSpPr>
        <p:spPr>
          <a:xfrm>
            <a:off x="4892040" y="3337560"/>
            <a:ext cx="1143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 [s16]" descr="qr-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383280"/>
            <a:ext cx="1051560" cy="1051560"/>
          </a:xfrm>
          <a:prstGeom prst="rect">
            <a:avLst/>
          </a:prstGeom>
        </p:spPr>
      </p:pic>
      <p:pic>
        <p:nvPicPr>
          <p:cNvPr id="19" name="Picture 18 [s16]" descr="cart-orange-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474720"/>
            <a:ext cx="549111" cy="457200"/>
          </a:xfrm>
          <a:prstGeom prst="rect">
            <a:avLst/>
          </a:prstGeom>
        </p:spPr>
      </p:pic>
      <p:sp>
        <p:nvSpPr>
          <p:cNvPr id="20" name="TextBox 19 [s16]"/>
          <p:cNvSpPr txBox="1"/>
          <p:nvPr/>
        </p:nvSpPr>
        <p:spPr>
          <a:xfrm>
            <a:off x="6263640" y="397763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Shop, coupons, checkout, receipt</a:t>
            </a:r>
          </a:p>
        </p:txBody>
      </p:sp>
      <p:sp>
        <p:nvSpPr>
          <p:cNvPr id="21" name="TextBox 20 [s16]"/>
          <p:cNvSpPr txBox="1"/>
          <p:nvPr/>
        </p:nvSpPr>
        <p:spPr>
          <a:xfrm>
            <a:off x="7452360" y="34564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B923C"/>
                </a:solidFill>
                <a:latin typeface="Calibri"/>
              </a:rPr>
              <a:t>HD Cart</a:t>
            </a:r>
          </a:p>
        </p:txBody>
      </p:sp>
      <p:sp>
        <p:nvSpPr>
          <p:cNvPr id="22" name="Rounded Rectangle 21 [s16]"/>
          <p:cNvSpPr/>
          <p:nvPr/>
        </p:nvSpPr>
        <p:spPr>
          <a:xfrm>
            <a:off x="4754880" y="4800600"/>
            <a:ext cx="5669280" cy="1325880"/>
          </a:xfrm>
          <a:prstGeom prst="roundRect">
            <a:avLst>
              <a:gd name="adj" fmla="val 8000"/>
            </a:avLst>
          </a:prstGeom>
          <a:solidFill>
            <a:srgbClr val="0F1D33">
              <a:alpha val="88000"/>
            </a:srgbClr>
          </a:solidFill>
          <a:ln w="12700">
            <a:solidFill>
              <a:srgbClr val="1E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 [s16]"/>
          <p:cNvSpPr txBox="1"/>
          <p:nvPr/>
        </p:nvSpPr>
        <p:spPr>
          <a:xfrm>
            <a:off x="4983480" y="4919472"/>
            <a:ext cx="530352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JAVA PROJECT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The same site has the Java project (.zip), this PPT and the report.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On a laptop: unzip, then double-click run.bat</a:t>
            </a:r>
          </a:p>
        </p:txBody>
      </p:sp>
      <p:pic>
        <p:nvPicPr>
          <p:cNvPr id="24" name="Corner cart [s16]" descr="cart-orange-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6370441"/>
            <a:ext cx="365760" cy="304538"/>
          </a:xfrm>
          <a:prstGeom prst="rect">
            <a:avLst/>
          </a:prstGeom>
        </p:spPr>
      </p:pic>
      <p:pic>
        <p:nvPicPr>
          <p:cNvPr id="25" name="Corner train [s16]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6313017"/>
            <a:ext cx="658368" cy="362102"/>
          </a:xfrm>
          <a:prstGeom prst="rect">
            <a:avLst/>
          </a:prstGeom>
        </p:spPr>
      </p:pic>
      <p:sp>
        <p:nvSpPr>
          <p:cNvPr id="26" name="!!SlideNumber"/>
          <p:cNvSpPr txBox="1"/>
          <p:nvPr/>
        </p:nvSpPr>
        <p:spPr>
          <a:xfrm>
            <a:off x="10469880" y="6519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16 / 17</a:t>
            </a:r>
          </a:p>
        </p:txBody>
      </p:sp>
      <p:pic>
        <p:nvPicPr>
          <p:cNvPr id="27" name="Previous slide" descr="slide-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8" name="Big cart" descr="cart-orange-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29" name="Big train" descr="train-cyan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[s17]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Tile"/>
          <p:cNvSpPr/>
          <p:nvPr/>
        </p:nvSpPr>
        <p:spPr>
          <a:xfrm>
            <a:off x="548640" y="4572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!!Logo" descr="cm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30352"/>
            <a:ext cx="905256" cy="905256"/>
          </a:xfrm>
          <a:prstGeom prst="rect">
            <a:avLst/>
          </a:prstGeom>
        </p:spPr>
      </p:pic>
      <p:sp>
        <p:nvSpPr>
          <p:cNvPr id="5" name="TextBox 4 [s17]"/>
          <p:cNvSpPr txBox="1"/>
          <p:nvPr/>
        </p:nvSpPr>
        <p:spPr>
          <a:xfrm>
            <a:off x="1783080" y="777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CMR UNIVERSITY</a:t>
            </a:r>
          </a:p>
        </p:txBody>
      </p:sp>
      <p:sp>
        <p:nvSpPr>
          <p:cNvPr id="6" name="TextBox 5 [s17]"/>
          <p:cNvSpPr txBox="1"/>
          <p:nvPr/>
        </p:nvSpPr>
        <p:spPr>
          <a:xfrm>
            <a:off x="548640" y="210312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0" b="1" i="0">
                <a:solidFill>
                  <a:srgbClr val="F1F5F9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 [s17]"/>
          <p:cNvSpPr txBox="1"/>
          <p:nvPr/>
        </p:nvSpPr>
        <p:spPr>
          <a:xfrm>
            <a:off x="548640" y="34290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22D3EE"/>
                </a:solidFill>
                <a:latin typeface="Consolas"/>
              </a:rPr>
              <a:t>Questions?</a:t>
            </a:r>
          </a:p>
        </p:txBody>
      </p:sp>
      <p:sp>
        <p:nvSpPr>
          <p:cNvPr id="8" name="TextBox 7 [s17]"/>
          <p:cNvSpPr txBox="1"/>
          <p:nvPr/>
        </p:nvSpPr>
        <p:spPr>
          <a:xfrm>
            <a:off x="548640" y="4480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1F5F9"/>
                </a:solidFill>
                <a:latin typeface="Calibri"/>
              </a:rPr>
              <a:t>Hemashree T N</a:t>
            </a:r>
            <a:r>
              <a:rPr sz="1900" b="0" i="0">
                <a:solidFill>
                  <a:srgbClr val="22D3EE"/>
                </a:solidFill>
                <a:latin typeface="Consolas"/>
              </a:rPr>
              <a:t>  ·  25BBTCS093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1F5F9"/>
                </a:solidFill>
                <a:latin typeface="Calibri"/>
              </a:rPr>
              <a:t>Divya Reddy</a:t>
            </a:r>
            <a:r>
              <a:rPr sz="1900" b="0" i="0">
                <a:solidFill>
                  <a:srgbClr val="22D3EE"/>
                </a:solidFill>
                <a:latin typeface="Consolas"/>
              </a:rPr>
              <a:t>  ·  25BBTCS067</a:t>
            </a:r>
          </a:p>
        </p:txBody>
      </p:sp>
      <p:pic>
        <p:nvPicPr>
          <p:cNvPr id="9" name="!!Train" descr="train-cyan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37360"/>
            <a:ext cx="3566160" cy="1961388"/>
          </a:xfrm>
          <a:prstGeom prst="rect">
            <a:avLst/>
          </a:prstGeom>
        </p:spPr>
      </p:pic>
      <p:pic>
        <p:nvPicPr>
          <p:cNvPr id="10" name="!!Cart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4069080"/>
            <a:ext cx="2011680" cy="1674961"/>
          </a:xfrm>
          <a:prstGeom prst="rect">
            <a:avLst/>
          </a:prstGeom>
        </p:spPr>
      </p:pic>
      <p:sp>
        <p:nvSpPr>
          <p:cNvPr id="11" name="Rounded Rectangle 10 [s17]"/>
          <p:cNvSpPr/>
          <p:nvPr/>
        </p:nvSpPr>
        <p:spPr>
          <a:xfrm>
            <a:off x="5120640" y="4343400"/>
            <a:ext cx="1417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QR code - HD Suite site [s17]" descr="qr-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4389120"/>
            <a:ext cx="1325880" cy="1325880"/>
          </a:xfrm>
          <a:prstGeom prst="rect">
            <a:avLst/>
          </a:prstGeom>
        </p:spPr>
      </p:pic>
      <p:sp>
        <p:nvSpPr>
          <p:cNvPr id="13" name="TextBox 12 [s17]"/>
          <p:cNvSpPr txBox="1"/>
          <p:nvPr/>
        </p:nvSpPr>
        <p:spPr>
          <a:xfrm>
            <a:off x="4983480" y="58338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22D3EE"/>
                </a:solidFill>
                <a:latin typeface="Consolas"/>
              </a:rPr>
              <a:t>Scan to try it</a:t>
            </a:r>
          </a:p>
        </p:txBody>
      </p:sp>
      <p:pic>
        <p:nvPicPr>
          <p:cNvPr id="14" name="Previous slide" descr="slide-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5" name="Big cart" descr="cart-orang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93636" y="3611880"/>
            <a:ext cx="3622472" cy="3016136"/>
          </a:xfrm>
          <a:prstGeom prst="rect">
            <a:avLst/>
          </a:prstGeom>
        </p:spPr>
      </p:pic>
      <p:pic>
        <p:nvPicPr>
          <p:cNvPr id="16" name="Big train" descr="train-cyan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088283" y="2331720"/>
            <a:ext cx="7813963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4" dur="2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99805 0 E" pathEditMode="relative" ptsTypes="">
                                      <p:cBhvr>
                                        <p:cTn id="6" dur="2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120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